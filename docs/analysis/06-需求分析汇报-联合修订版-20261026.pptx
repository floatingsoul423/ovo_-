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0dd0e0ada747b5" /><Relationship Type="http://schemas.openxmlformats.org/officeDocument/2006/relationships/extended-properties" Target="/docProps/app.xml" Id="R67f91f7f1e394a13" /><Relationship Type="http://schemas.openxmlformats.org/officeDocument/2006/relationships/officeDocument" Target="/ppt/presentation.xml" Id="R130b8531a9dc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55ebe158674c63"/>
    <p:sldMasterId xmlns:r="http://schemas.openxmlformats.org/officeDocument/2006/relationships" id="2147483650" r:id="R885822fd9b354219"/>
    <p:sldMasterId xmlns:r="http://schemas.openxmlformats.org/officeDocument/2006/relationships" id="2147483652" r:id="R00c7387a98df41cf"/>
    <p:sldMasterId xmlns:r="http://schemas.openxmlformats.org/officeDocument/2006/relationships" id="2147483654" r:id="R2b8cda06b7a244da"/>
    <p:sldMasterId xmlns:r="http://schemas.openxmlformats.org/officeDocument/2006/relationships" id="2147483656" r:id="R04349159ff1849cd"/>
    <p:sldMasterId xmlns:r="http://schemas.openxmlformats.org/officeDocument/2006/relationships" id="2147483658" r:id="R3a9e0d25f8b347d7"/>
    <p:sldMasterId xmlns:r="http://schemas.openxmlformats.org/officeDocument/2006/relationships" id="2147483660" r:id="Rba1ef1dd31d14a30"/>
    <p:sldMasterId xmlns:r="http://schemas.openxmlformats.org/officeDocument/2006/relationships" id="2147483662" r:id="R542fc2865aeb4161"/>
    <p:sldMasterId xmlns:r="http://schemas.openxmlformats.org/officeDocument/2006/relationships" id="2147483664" r:id="R9d54dd1d3fe64ae0"/>
    <p:sldMasterId xmlns:r="http://schemas.openxmlformats.org/officeDocument/2006/relationships" id="2147483666" r:id="Rdc7cb278be3746bc"/>
    <p:sldMasterId xmlns:r="http://schemas.openxmlformats.org/officeDocument/2006/relationships" id="2147483668" r:id="R2243fce27b4d4d74"/>
  </p:sldMasterIdLst>
  <p:notesMasterIdLst>
    <p:notesMasterId xmlns:r="http://schemas.openxmlformats.org/officeDocument/2006/relationships" r:id="R2b3436d35bd04784"/>
  </p:notesMasterIdLst>
  <p:sldIdLst>
    <p:sldId xmlns:r="http://schemas.openxmlformats.org/officeDocument/2006/relationships" id="256" r:id="R58ded8b3d6174132"/>
    <p:sldId xmlns:r="http://schemas.openxmlformats.org/officeDocument/2006/relationships" id="257" r:id="R2d05ea24a8574387"/>
    <p:sldId xmlns:r="http://schemas.openxmlformats.org/officeDocument/2006/relationships" id="258" r:id="Rd14b2faf15064875"/>
    <p:sldId xmlns:r="http://schemas.openxmlformats.org/officeDocument/2006/relationships" id="259" r:id="Rb122e39779584642"/>
    <p:sldId xmlns:r="http://schemas.openxmlformats.org/officeDocument/2006/relationships" id="260" r:id="Rd4788c0554db4ff3"/>
    <p:sldId xmlns:r="http://schemas.openxmlformats.org/officeDocument/2006/relationships" id="261" r:id="R8ab82b24339a4686"/>
    <p:sldId xmlns:r="http://schemas.openxmlformats.org/officeDocument/2006/relationships" id="262" r:id="Ra733d37295934251"/>
    <p:sldId xmlns:r="http://schemas.openxmlformats.org/officeDocument/2006/relationships" id="263" r:id="Ra5654976ac65450e"/>
    <p:sldId xmlns:r="http://schemas.openxmlformats.org/officeDocument/2006/relationships" id="264" r:id="R6de03313d35a4a72"/>
    <p:sldId xmlns:r="http://schemas.openxmlformats.org/officeDocument/2006/relationships" id="265" r:id="R13540c92dbcc412c"/>
    <p:sldId xmlns:r="http://schemas.openxmlformats.org/officeDocument/2006/relationships" id="266" r:id="R5d41209f992541b6"/>
    <p:sldId xmlns:r="http://schemas.openxmlformats.org/officeDocument/2006/relationships" id="267" r:id="Rd663fd633e734e9a"/>
    <p:sldId xmlns:r="http://schemas.openxmlformats.org/officeDocument/2006/relationships" id="268" r:id="R86e8bb4c4b844638"/>
    <p:sldId xmlns:r="http://schemas.openxmlformats.org/officeDocument/2006/relationships" id="269" r:id="Re6f1511956e14808"/>
    <p:sldId xmlns:r="http://schemas.openxmlformats.org/officeDocument/2006/relationships" id="270" r:id="R7b78abdf7a4442d5"/>
    <p:sldId xmlns:r="http://schemas.openxmlformats.org/officeDocument/2006/relationships" id="271" r:id="Rb774101317a5438c"/>
    <p:sldId xmlns:r="http://schemas.openxmlformats.org/officeDocument/2006/relationships" id="272" r:id="R0b626012969d4477"/>
    <p:sldId xmlns:r="http://schemas.openxmlformats.org/officeDocument/2006/relationships" id="273" r:id="R2b818a782f454363"/>
  </p:sldIdLst>
  <p:sldSz cx="14630400" cy="82296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303479c42f4cc4" /><Relationship Type="http://schemas.openxmlformats.org/officeDocument/2006/relationships/slideMaster" Target="/ppt/slideMasters/slideMaster1.xml" Id="R4555ebe158674c63" /><Relationship Type="http://schemas.openxmlformats.org/officeDocument/2006/relationships/slideMaster" Target="/ppt/slideMasters/slideMaster2.xml" Id="R885822fd9b354219" /><Relationship Type="http://schemas.openxmlformats.org/officeDocument/2006/relationships/slideMaster" Target="/ppt/slideMasters/slideMaster3.xml" Id="R00c7387a98df41cf" /><Relationship Type="http://schemas.openxmlformats.org/officeDocument/2006/relationships/slideMaster" Target="/ppt/slideMasters/slideMaster4.xml" Id="R2b8cda06b7a244da" /><Relationship Type="http://schemas.openxmlformats.org/officeDocument/2006/relationships/slideMaster" Target="/ppt/slideMasters/slideMaster5.xml" Id="R04349159ff1849cd" /><Relationship Type="http://schemas.openxmlformats.org/officeDocument/2006/relationships/slideMaster" Target="/ppt/slideMasters/slideMaster6.xml" Id="R3a9e0d25f8b347d7" /><Relationship Type="http://schemas.openxmlformats.org/officeDocument/2006/relationships/slideMaster" Target="/ppt/slideMasters/slideMaster7.xml" Id="Rba1ef1dd31d14a30" /><Relationship Type="http://schemas.openxmlformats.org/officeDocument/2006/relationships/slideMaster" Target="/ppt/slideMasters/slideMaster8.xml" Id="R542fc2865aeb4161" /><Relationship Type="http://schemas.openxmlformats.org/officeDocument/2006/relationships/slideMaster" Target="/ppt/slideMasters/slideMaster9.xml" Id="R9d54dd1d3fe64ae0" /><Relationship Type="http://schemas.openxmlformats.org/officeDocument/2006/relationships/slideMaster" Target="/ppt/slideMasters/slideMaster10.xml" Id="Rdc7cb278be3746bc" /><Relationship Type="http://schemas.openxmlformats.org/officeDocument/2006/relationships/slideMaster" Target="/ppt/slideMasters/slideMaster11.xml" Id="R2243fce27b4d4d74" /><Relationship Type="http://schemas.openxmlformats.org/officeDocument/2006/relationships/notesMaster" Target="/ppt/notesMasters/notesMaster1.xml" Id="R2b3436d35bd04784" /><Relationship Type="http://schemas.openxmlformats.org/officeDocument/2006/relationships/presProps" Target="/ppt/presProps.xml" Id="Rf180b0052bea4151" /><Relationship Type="http://schemas.openxmlformats.org/officeDocument/2006/relationships/viewProps" Target="/ppt/viewProps.xml" Id="R1ffd34693d0a47d5" /><Relationship Type="http://schemas.openxmlformats.org/officeDocument/2006/relationships/tableStyles" Target="/ppt/tableStyles.xml" Id="R4f11f5c5d96b4764" /><Relationship Type="http://schemas.openxmlformats.org/officeDocument/2006/relationships/slide" Target="/ppt/slides/slide1.xml" Id="R58ded8b3d6174132" /><Relationship Type="http://schemas.openxmlformats.org/officeDocument/2006/relationships/slide" Target="/ppt/slides/slide2.xml" Id="R2d05ea24a8574387" /><Relationship Type="http://schemas.openxmlformats.org/officeDocument/2006/relationships/slide" Target="/ppt/slides/slide3.xml" Id="Rd14b2faf15064875" /><Relationship Type="http://schemas.openxmlformats.org/officeDocument/2006/relationships/slide" Target="/ppt/slides/slide4.xml" Id="Rb122e39779584642" /><Relationship Type="http://schemas.openxmlformats.org/officeDocument/2006/relationships/slide" Target="/ppt/slides/slide5.xml" Id="Rd4788c0554db4ff3" /><Relationship Type="http://schemas.openxmlformats.org/officeDocument/2006/relationships/slide" Target="/ppt/slides/slide6.xml" Id="R8ab82b24339a4686" /><Relationship Type="http://schemas.openxmlformats.org/officeDocument/2006/relationships/slide" Target="/ppt/slides/slide7.xml" Id="Ra733d37295934251" /><Relationship Type="http://schemas.openxmlformats.org/officeDocument/2006/relationships/slide" Target="/ppt/slides/slide8.xml" Id="Ra5654976ac65450e" /><Relationship Type="http://schemas.openxmlformats.org/officeDocument/2006/relationships/slide" Target="/ppt/slides/slide9.xml" Id="R6de03313d35a4a72" /><Relationship Type="http://schemas.openxmlformats.org/officeDocument/2006/relationships/slide" Target="/ppt/slides/slide10.xml" Id="R13540c92dbcc412c" /><Relationship Type="http://schemas.openxmlformats.org/officeDocument/2006/relationships/slide" Target="/ppt/slides/slide11.xml" Id="R5d41209f992541b6" /><Relationship Type="http://schemas.openxmlformats.org/officeDocument/2006/relationships/slide" Target="/ppt/slides/slide12.xml" Id="Rd663fd633e734e9a" /><Relationship Type="http://schemas.openxmlformats.org/officeDocument/2006/relationships/slide" Target="/ppt/slides/slide13.xml" Id="R86e8bb4c4b844638" /><Relationship Type="http://schemas.openxmlformats.org/officeDocument/2006/relationships/slide" Target="/ppt/slides/slide14.xml" Id="Re6f1511956e14808" /><Relationship Type="http://schemas.openxmlformats.org/officeDocument/2006/relationships/slide" Target="/ppt/slides/slide15.xml" Id="R7b78abdf7a4442d5" /><Relationship Type="http://schemas.openxmlformats.org/officeDocument/2006/relationships/slide" Target="/ppt/slides/slide16.xml" Id="Rb774101317a5438c" /><Relationship Type="http://schemas.openxmlformats.org/officeDocument/2006/relationships/slide" Target="/ppt/slides/slide17.xml" Id="R0b626012969d4477" /><Relationship Type="http://schemas.openxmlformats.org/officeDocument/2006/relationships/slide" Target="/ppt/slides/slide18.xml" Id="R2b818a782f45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3.xml" Id="R8bda8121110e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f4642eea24c36" /><Relationship Type="http://schemas.openxmlformats.org/officeDocument/2006/relationships/notesMaster" Target="/ppt/notesMasters/notesMaster1.xml" Id="R00527b54c9bb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80cfc1dfef4746" /><Relationship Type="http://schemas.openxmlformats.org/officeDocument/2006/relationships/notesMaster" Target="/ppt/notesMasters/notesMaster1.xml" Id="Rc35c367fa49a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27ed21f324d8e" /><Relationship Type="http://schemas.openxmlformats.org/officeDocument/2006/relationships/notesMaster" Target="/ppt/notesMasters/notesMaster1.xml" Id="R4cd65f882d41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902c5810d4684" /><Relationship Type="http://schemas.openxmlformats.org/officeDocument/2006/relationships/notesMaster" Target="/ppt/notesMasters/notesMaster1.xml" Id="Rf0197d9f30cc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fc2c7a1994774" /><Relationship Type="http://schemas.openxmlformats.org/officeDocument/2006/relationships/notesMaster" Target="/ppt/notesMasters/notesMaster1.xml" Id="Rfd5f886094ba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0aa4a875d94fa3" /><Relationship Type="http://schemas.openxmlformats.org/officeDocument/2006/relationships/notesMaster" Target="/ppt/notesMasters/notesMaster1.xml" Id="R1578faa1145a4c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87511cc7084fc2" /><Relationship Type="http://schemas.openxmlformats.org/officeDocument/2006/relationships/notesMaster" Target="/ppt/notesMasters/notesMaster1.xml" Id="R5d7a37ef04ad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d0b19fcfe4d42" /><Relationship Type="http://schemas.openxmlformats.org/officeDocument/2006/relationships/notesMaster" Target="/ppt/notesMasters/notesMaster1.xml" Id="R92ee93317e4e4d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4d0577a8734fc1" /><Relationship Type="http://schemas.openxmlformats.org/officeDocument/2006/relationships/notesMaster" Target="/ppt/notesMasters/notesMaster1.xml" Id="R2758c4ce0e654c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b0f57a0181412b" /><Relationship Type="http://schemas.openxmlformats.org/officeDocument/2006/relationships/notesMaster" Target="/ppt/notesMasters/notesMaster1.xml" Id="R6f64415e7ba74c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c49034599d4303" /><Relationship Type="http://schemas.openxmlformats.org/officeDocument/2006/relationships/notesMaster" Target="/ppt/notesMasters/notesMaster1.xml" Id="R7883bffe3b0e4b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66d01d8d6e458e" /><Relationship Type="http://schemas.openxmlformats.org/officeDocument/2006/relationships/notesMaster" Target="/ppt/notesMasters/notesMaster1.xml" Id="R3667100d18a643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1bd1ff76a34bb7" /><Relationship Type="http://schemas.openxmlformats.org/officeDocument/2006/relationships/notesMaster" Target="/ppt/notesMasters/notesMaster1.xml" Id="R5c105dd45e5146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ab77e644454fa7" /><Relationship Type="http://schemas.openxmlformats.org/officeDocument/2006/relationships/notesMaster" Target="/ppt/notesMasters/notesMaster1.xml" Id="R5348cbc711ac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3d1464f67046e6" /><Relationship Type="http://schemas.openxmlformats.org/officeDocument/2006/relationships/notesMaster" Target="/ppt/notesMasters/notesMaster1.xml" Id="Rb096474b2f7f42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2666797bc449ac" /><Relationship Type="http://schemas.openxmlformats.org/officeDocument/2006/relationships/notesMaster" Target="/ppt/notesMasters/notesMaster1.xml" Id="Rf566689d20ae46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d12918a48d4a1a" /><Relationship Type="http://schemas.openxmlformats.org/officeDocument/2006/relationships/notesMaster" Target="/ppt/notesMasters/notesMaster1.xml" Id="R01de912ec32c40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141f1bbac745a9" /><Relationship Type="http://schemas.openxmlformats.org/officeDocument/2006/relationships/notesMaster" Target="/ppt/notesMasters/notesMaster1.xml" Id="R4d042505078e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开场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15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秒：说明汇报结构——业务对象（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3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分钟）、核心业务类图（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4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分钟）、三条关键业务流程（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4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分钟）、结论与后续（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1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分钟），其余时间用于提问。汇报人开场只需一句：“本次汇报给出平台的核心业务对象、类图结构与三条关键流程的交互模型。”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165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按四组讲，不逐条念：先讲身份与认领授权六类，强调账号、个人主页、学者档案是三个对象；再讲成果的“一个父类＋四个子类”；第三组讲参与关系为什么单独成类；第四组讲来源、版本、更新与采集任务。最后用一句话收：识别标准是独立身份与状态、需长期保留的业务证据、被多个用例反复读取，三者缺一不列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80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80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80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80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70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秒。重点讲三处：第一，学者与成果两端都是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0..*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，角色、署名顺序与状态由关联类承载，端点写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1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就无法表达共同成果；第二，来源记录对成果是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0..1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聚合，因为采集时来源先到、成果后建；第三，更新记录用普通关联，审计要留存，不能用组合。其余关系一句带过。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60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秒。讲“一个父类、四个子类”的理由：四类成果的去重键不同（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DOI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、申请号＋辖区、项目编号、奖项名称＋年度），混在单一类里容易把某一类型的键用到另一类型；反过来拆成四套独立模型会复制参与关系与出处记录。逐行点出去重键即可，不必念字段。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55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左图讲前半段：管理员经采集界面到协调者，校验账号权限与来源许可后建任务并启动，按快照分批取回，逐条登记来源证据后交治理，结果写回任务。右图讲后半段：批次结束核对计划输入与已处置、异常计数，核对不过判失败；管理员可停止或从检查点重试。强调两点：拒绝与失败必须终止；成功只表示处置完成，不表示已公开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35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秒。这一页只讲判定条件，不重复图上消息。四行各一句：先校验再建任务；拒绝和失败要终止，不能事后修正；完成判据是每条输入都有去向；停止与重试都不能破坏历史。右侧给出消息号，方便提问时定位。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55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左图：申请人选择已收录的学者档案并提交证据；未登录或目标不可认领即拒绝；缺证据转“待补充”，齐备转“待审核”，同时记录竞争事实。右图：审核者先校验权限与状态版本，通过后才读私有材料；理由缺失不改状态，补证转待补充，冲突转争议，无冲突则批准，批准按建授权、置通过、写审计三段执行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35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先念校验顺序，说明顺序不可调换：权限与状态版本通过之后才允许读取私有材料，否则会留下越权读取路径。再讲五类出口，重点讲两条：冲突转争议不改原授权；批准是三步，任一步失败都要有可见结果，不允许界面显示通过而权限不存在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55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左图：访客提交关键词、范围、筛选、排序与页码；条件非法即终止并指出字段；合法则固定查询上下文，成果与学者范围互斥查询。右图：失败与空结果分开处理，公开过滤与排序后再判有无匹配；有匹配返回当前页、总数与来源摘要，下一页复用同一上下文与排序键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35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核心是一句话：四种结果不能互相冒充——系统故障不能显示成没有数据。逐行讲四种处理，再讲分页必须复用同一上下文与排序键，保证页间不重不漏；上下文失效时要求重新查询，不做静默重排。来源摘要与来源明细的区别可提一句：摘要用于核对出处，明细不在检索结果中返回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15900" indent="0">
              <a:lnSpc>
                <a:spcPct val="100000"/>
              </a:lnSpc>
              <a:buNone/>
            </a:pP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约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45 </a:t>
            </a:r>
            <a:r>
              <a:rPr sz="20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秒。左列收束已完成的模型；中列说明这些结论对数据与接口设计的直接约束；右列如实说明尚未确定的事项，不在此展开讨论。最后一句留给提问：可以指定任意一条消息，说明其守卫条件与失败出口。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afc6bb03943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1ada4ba41249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238182879f94f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8859345333c4f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b857e20e67824c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3f5a35f602c04c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e9ab31bc6b74a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c540097f4ae349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235a68b47f65493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9860651c447f4f0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6b9f5ed93bcd47e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267F37C-FAF4-488B-97A0-FDF2C2355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328320"/>
            <a:ext cx="13167000" cy="137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F9220D0-31B1-4848-889A-B4E472F2F0D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731520" y="1925640"/>
            <a:ext cx="13167000" cy="47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ACEF27A-48D2-4A9D-AC9D-2C24A8C09392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06D07C9-8374-4FE5-B92E-3438CE93999F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BC39282-A399-4DD7-B896-9DD8D9E3E64A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D3F54F8-6B08-4AC1-89B9-9A4133A3D55D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3DCC5D4-8DFE-4C35-9DF3-69A0D748F952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E246A6-BB9B-4E7B-813E-9F8682838706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9D702FA-7517-4B66-AA6F-4438FB786256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F2E51DA-D501-4B0B-A31D-A41056B29B5D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1BAD8BE-D728-4ABD-B075-0DEE63B8554C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BC1D62-540F-48E9-BB2F-8FE5EF970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328320"/>
            <a:ext cx="13167000" cy="137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8F8D163-2820-4287-9E8E-12FAB41D539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731520" y="1925640"/>
            <a:ext cx="13167000" cy="47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5"/>
              </a:spcBef>
              <a:buNone/>
            </a:pP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8F0F470-6865-47A5-A49E-BF808BE856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ACCB43B-02D8-4A98-8F71-F3330DE95D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5590977-AD3F-4896-A48A-3D31F587A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EE63ADB-1756-4DC4-AA6A-3F0EAE0FF9BD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8CECCCA-8014-4BD5-871F-5A4344BDB50A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7B89159-AA57-44C9-A515-A014194CDCAF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50EB522-2715-4F6F-B0A7-6F117C88C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328320"/>
            <a:ext cx="13167000" cy="137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551040D-FCAD-4FF4-BF59-DBFCA800209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731520" y="1925640"/>
            <a:ext cx="6425280" cy="47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5"/>
              </a:spcBef>
              <a:buNone/>
            </a:pP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5DB5D9B-B5B1-4EA2-90DA-152B8F01E3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7478280" y="1925640"/>
            <a:ext cx="6425280" cy="47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5"/>
              </a:spcBef>
              <a:buNone/>
            </a:pP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2770B727-963B-4DA1-8E1F-74AA1BD409F4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D0AADDC-1521-483A-B407-3C1CBE15A285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5DD59D2-6218-48F7-9BDE-B39BBF3B740D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B0BF89D-6AD2-4F54-A463-5D6293C322B4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8EB409F-11B5-4BF7-992B-BFCE75B0CE76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F6B192C-F74F-4E9E-93DF-88575CF93A1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C0EDF7C-7B4A-4779-8A2A-CCA02A688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328320"/>
            <a:ext cx="13167000" cy="137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2DB0675-EF5E-490F-AD0B-F82F428CA323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0F4B370-3C5C-4C46-9F30-BDBEFB521174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09E1105-1A65-46F9-AF32-2E356B1B826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AE1753C-02CE-48F8-81A6-2E7C0B685D77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5FB5F0B-F095-4B70-ACF7-BDA241D54CF2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C3A40D3-FBDB-4E7A-9ACD-D29CD76A72D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9F9751A-4074-4D0D-9BAB-8FCBDCA0E652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C278556-DC12-435A-A540-858F917532A3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C3A24FC-844F-4ABB-8AB4-7E6B29216F8F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6FA19AD-0E7C-4734-A5DA-476B5255940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B6B8B85-EC00-4C95-A1FB-2FF5693A89B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D72EA58-9A04-4380-A264-35B3461C9370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517395759b4954" /><Relationship Type="http://schemas.openxmlformats.org/officeDocument/2006/relationships/slideLayout" Target="/ppt/slideLayouts/slideLayout1.xml" Id="R77a3b05bc6ad48a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8635e722f74d29" /><Relationship Type="http://schemas.openxmlformats.org/officeDocument/2006/relationships/slideLayout" Target="/ppt/slideLayouts/slideLayout2.xml" Id="R04fd42de3ac9410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590d985cdf948fc" /><Relationship Type="http://schemas.openxmlformats.org/officeDocument/2006/relationships/slideLayout" Target="/ppt/slideLayouts/slideLayout3.xml" Id="R983c8e92ecff4d6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f3708bb13b6f4242" /><Relationship Type="http://schemas.openxmlformats.org/officeDocument/2006/relationships/slideLayout" Target="/ppt/slideLayouts/slideLayout4.xml" Id="R3195fbf3ef9c438b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a54dc21096f04f8d" /><Relationship Type="http://schemas.openxmlformats.org/officeDocument/2006/relationships/slideLayout" Target="/ppt/slideLayouts/slideLayout5.xml" Id="R8f8ae46454044410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3e20874682394275" /><Relationship Type="http://schemas.openxmlformats.org/officeDocument/2006/relationships/slideLayout" Target="/ppt/slideLayouts/slideLayout6.xml" Id="R62e4967705af4acb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8b47507f31834733" /><Relationship Type="http://schemas.openxmlformats.org/officeDocument/2006/relationships/slideLayout" Target="/ppt/slideLayouts/slideLayout7.xml" Id="R8fde2566594c43dc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c80f8ca35c384a4f" /><Relationship Type="http://schemas.openxmlformats.org/officeDocument/2006/relationships/slideLayout" Target="/ppt/slideLayouts/slideLayout8.xml" Id="R6f0ff1d8630a4c2c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07322a5124f1461a" /><Relationship Type="http://schemas.openxmlformats.org/officeDocument/2006/relationships/slideLayout" Target="/ppt/slideLayouts/slideLayout9.xml" Id="R36b6c5f66ebb4eba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d475a917e4774e7c" /><Relationship Type="http://schemas.openxmlformats.org/officeDocument/2006/relationships/slideLayout" Target="/ppt/slideLayouts/slideLayout10.xml" Id="R81d035d483214eae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96a377ef5ac74a7d" /><Relationship Type="http://schemas.openxmlformats.org/officeDocument/2006/relationships/slideLayout" Target="/ppt/slideLayouts/slideLayout11.xml" Id="R9d29fd9c931d458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7CDCF35-B375-418D-A874-E1AEAF69BE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</a:t>
            </a: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445D509-175E-4686-AD59-07DB078BACDD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7BA7D04-2C3F-48CF-BAA4-4CB3B2F9A10F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56A5F82-50CE-4671-850F-017DBB1C3611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3b05bc6ad48ab"/>
  </p:sldLayoutId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B3ED9EA-1C84-4255-93EF-17A735BAB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A1ABFF-8585-4489-8AEF-DCCF853F584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/>
              <a:buChar char="•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–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5C2044C-BE26-4735-8376-1872DC2FCD31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A42B8F5-2A92-4674-8A26-69F6E567D51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401BA19D-5B6D-43B7-A913-7C0C6156E084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04fd42de3ac94102"/>
  </p:sldLayoutId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C543E2-797C-4E86-939E-BCD8E5A9E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E7BD6EC-C70C-4C94-BB3E-DFB4C794DD8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/>
              <a:buChar char="•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–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5783F51-BAA9-417E-BB02-B313328F627B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4E91159-9BFF-4487-8DC8-B7DA4BC7671A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20FFBB5-3A85-41EA-962D-9E0C03D248E0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983c8e92ecff4d65"/>
  </p:sldLayoutId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4701E58-C16B-44F5-ACA7-A19565924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D2D63FE-4614-4517-85E2-BC259B1793A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/>
              <a:buChar char="•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–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C1A1D0C-270E-4EF6-A9F1-AD43AEB260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8418A14-87BD-4D0A-A5C4-2A6A40040E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6D7F48B-9BD6-462C-B87B-1F1344FED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3195fbf3ef9c438b"/>
  </p:sldLayoutIdLst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8CA8367-B73A-410C-8A22-822FAF6C3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</a:t>
            </a: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 </a:t>
            </a: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edit </a:t>
            </a: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Maste</a:t>
            </a: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 title </a:t>
            </a:r>
            <a:r>
              <a:rPr sz="4000" b="1" strike="noStrike" cap="all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style</a:t>
            </a:r>
            <a:endParaRPr sz="4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9EADEF8-BBCD-4FA7-9780-7CAABC8161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12F43A8-430C-40F4-9DFF-AE0BE34AEE94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6471C9C-6088-4318-8ED4-D472BAEBE22D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B3CFEF8-64EE-446D-A019-97805E8AA456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8f8ae46454044410"/>
  </p:sldLayoutIdLst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60F8DA-08C2-48C4-987D-ECE2337E7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AE3712B-4023-454E-A4D5-9169178D78C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•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–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EA2B90C-89DB-47FB-B67A-8884F7F7DC5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•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–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EF92DF5-1D64-4518-A3B6-DC745B97BB06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DDD59A8-DEA6-4462-A617-21B6C2E06FB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363B9396-A807-4A71-957E-F5E7E2190647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62e4967705af4acb"/>
  </p:sldLayoutIdLst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C2FE5B9-2CD4-4043-8AFB-6C44AF92D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4754DE8-7E52-4582-B7B9-7A76DAE2E7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sz="2400" b="1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CBEC787-3F10-458C-9D53-4E93CB295F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2B17B3B-847E-47D1-B1FD-BE35F080C9A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sz="2400" b="1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FDAB43E-5443-4BCE-A02A-BE3FE63BAE9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85F1E01D-ABFE-4015-9454-F1ACD9720ED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57EE30FF-6EB4-4882-89D4-7BD82CC73354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D179670E-CEDD-4AD2-8B47-CAC285E23B79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fde2566594c43dc"/>
  </p:sldLayoutIdLst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6E6B8C1-2F20-43FF-AD23-B8F487EEA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</a:pPr>
            <a:r>
              <a:rPr sz="4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0A8CA12-36E2-4B8C-BE5A-B2A7EC07D566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3B80871-DD71-47F2-AD81-2C3E65F6E9D4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431301B-0387-4DEE-A95F-DBA6FBE861B4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6f0ff1d8630a4c2c"/>
  </p:sldLayoutIdLst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F23187E-74E3-4E4F-BC19-881729105194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9CD26F8-468E-4714-B81F-EED128FBA3A0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C4ABF4F-ADD4-43C6-91BE-8106A25C528D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C99987F-3FE1-4886-8888-A005618D8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328320"/>
            <a:ext cx="13167000" cy="137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  <a:endParaRPr sz="1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1FFA8A0-5563-4DF7-890D-6AFEA7C490A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31520" y="1925640"/>
            <a:ext cx="13167000" cy="477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36b6c5f66ebb4eba"/>
  </p:sldLayoutIdLst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00129DE-01B9-4CBF-A786-62C5C0A84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6CAF806-9C9F-4796-B99E-887FCF4E258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2900" indent="-342900" defTabSz="4572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/>
              <a:buChar char="•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2950" lvl="1" indent="-285750" defTabSz="4572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–"/>
            </a:pPr>
            <a:r>
              <a:rPr sz="28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sz="2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365C854-444C-497E-96C5-62DB2C4BA4E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sz="1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A71BB11-0427-46F2-85D1-BC81D4FB17A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CE088DB-8226-4F3F-A019-9E7CD041E20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4A59683-5C71-4897-B449-B29120F858AB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81d035d483214eae"/>
  </p:sldLayoutIdLst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51F9990-F5A7-40CF-8859-BDA9EDA12B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918391D-EF62-4A65-BD66-E328986227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3E131E2-3F47-4E2A-ADDA-2409BAFDFCA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0"/>
              </a:spcBef>
              <a:buNone/>
              <a:tabLst>
                <a:tab pos="0" algn="l"/>
              </a:tabLst>
            </a:pPr>
            <a:r>
              <a:rPr sz="1400" b="0" strike="noStrike" spc="-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strike="noStrike" spc="-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B15DABB-6819-485E-942F-AAEFCA8558BD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75BF88D-BED7-48BB-982F-D57F28EB05C8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strike="noStrike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5D62643-2856-4823-8646-1947FC918C2C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defRPr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</a:pP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9d29fd9c931d4588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c387d066a4e499a" /><Relationship Type="http://schemas.openxmlformats.org/officeDocument/2006/relationships/notesSlide" Target="/ppt/notesSlides/notesSlide1.xml" Id="Rc85eccf2a5854c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edaf80f31ea4610" /><Relationship Type="http://schemas.openxmlformats.org/officeDocument/2006/relationships/notesSlide" Target="/ppt/notesSlides/notesSlide2.xml" Id="R14f4cb015705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ca93e93f1df4f44" /><Relationship Type="http://schemas.openxmlformats.org/officeDocument/2006/relationships/image" Target="/ppt/media/image.png" Id="R45b02b6112304f5f" /><Relationship Type="http://schemas.openxmlformats.org/officeDocument/2006/relationships/notesSlide" Target="/ppt/notesSlides/notesSlide3.xml" Id="R30774c48ac8547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3fc2683d8d4c77" /><Relationship Type="http://schemas.openxmlformats.org/officeDocument/2006/relationships/image" Target="/ppt/media/image2.png" Id="R7e64cd7dff024383" /><Relationship Type="http://schemas.openxmlformats.org/officeDocument/2006/relationships/notesSlide" Target="/ppt/notesSlides/notesSlide4.xml" Id="R970db910bf094f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ad03576c2ad4efd" /><Relationship Type="http://schemas.openxmlformats.org/officeDocument/2006/relationships/image" Target="/ppt/media/image3.png" Id="Re22251256b6d4174" /><Relationship Type="http://schemas.openxmlformats.org/officeDocument/2006/relationships/notesSlide" Target="/ppt/notesSlides/notesSlide5.xml" Id="R809fe176074a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f910f2088db4f1c" /><Relationship Type="http://schemas.openxmlformats.org/officeDocument/2006/relationships/image" Target="/ppt/media/image4.png" Id="R488df9f8462e4219" /><Relationship Type="http://schemas.openxmlformats.org/officeDocument/2006/relationships/notesSlide" Target="/ppt/notesSlides/notesSlide6.xml" Id="R525d63d117d7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174725870914188" /><Relationship Type="http://schemas.openxmlformats.org/officeDocument/2006/relationships/notesSlide" Target="/ppt/notesSlides/notesSlide7.xml" Id="R0f2ea9c6fe63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24143008e989442f" /><Relationship Type="http://schemas.openxmlformats.org/officeDocument/2006/relationships/notesSlide" Target="/ppt/notesSlides/notesSlide8.xml" Id="R435e71574f9248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d799596ee3b4e19" /><Relationship Type="http://schemas.openxmlformats.org/officeDocument/2006/relationships/image" Target="/ppt/media/image5.png" Id="R4a8dc2095b474b0e" /><Relationship Type="http://schemas.openxmlformats.org/officeDocument/2006/relationships/image" Target="/ppt/media/image6.png" Id="R14a0a90def874f31" /><Relationship Type="http://schemas.openxmlformats.org/officeDocument/2006/relationships/notesSlide" Target="/ppt/notesSlides/notesSlide9.xml" Id="Rbc8a10b204c84a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c0acfbb708441a9" /><Relationship Type="http://schemas.openxmlformats.org/officeDocument/2006/relationships/notesSlide" Target="/ppt/notesSlides/notesSlide10.xml" Id="R44c672a26b1f48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658634841974d5d" /><Relationship Type="http://schemas.openxmlformats.org/officeDocument/2006/relationships/image" Target="/ppt/media/image7.png" Id="R536795a3aba84bb9" /><Relationship Type="http://schemas.openxmlformats.org/officeDocument/2006/relationships/image" Target="/ppt/media/image8.png" Id="Re99516af6f694fc2" /><Relationship Type="http://schemas.openxmlformats.org/officeDocument/2006/relationships/notesSlide" Target="/ppt/notesSlides/notesSlide11.xml" Id="R1817af8067e04f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eae2769d97e476a" /><Relationship Type="http://schemas.openxmlformats.org/officeDocument/2006/relationships/notesSlide" Target="/ppt/notesSlides/notesSlide12.xml" Id="R6f6570ddfd714c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1db97e02d00412d" /><Relationship Type="http://schemas.openxmlformats.org/officeDocument/2006/relationships/image" Target="/ppt/media/image9.png" Id="R87467239ad414b8b" /><Relationship Type="http://schemas.openxmlformats.org/officeDocument/2006/relationships/image" Target="/ppt/media/image10.png" Id="R8eacc3ebae3a43b0" /><Relationship Type="http://schemas.openxmlformats.org/officeDocument/2006/relationships/notesSlide" Target="/ppt/notesSlides/notesSlide13.xml" Id="Raebb20ea8ccb49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1fcf5df7b4e43e6" /><Relationship Type="http://schemas.openxmlformats.org/officeDocument/2006/relationships/notesSlide" Target="/ppt/notesSlides/notesSlide14.xml" Id="R8c44836f7a6f45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9193bdf91af4793" /><Relationship Type="http://schemas.openxmlformats.org/officeDocument/2006/relationships/notesSlide" Target="/ppt/notesSlides/notesSlide15.xml" Id="R4d9a282d052e44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31a3993155244c5" /><Relationship Type="http://schemas.openxmlformats.org/officeDocument/2006/relationships/notesSlide" Target="/ppt/notesSlides/notesSlide16.xml" Id="R100dfe21613443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0a6d98648224e67" /><Relationship Type="http://schemas.openxmlformats.org/officeDocument/2006/relationships/notesSlide" Target="/ppt/notesSlides/notesSlide17.xml" Id="R18a5428bb41643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239382c0a1a4d3e" /><Relationship Type="http://schemas.openxmlformats.org/officeDocument/2006/relationships/notesSlide" Target="/ppt/notesSlides/notesSlide18.xml" Id="R109d058f26ce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extBox 1">
            <a:extLst xmlns:a="http://schemas.openxmlformats.org/drawingml/2006/main">
              <a:ext uri="{FF2B5EF4-FFF2-40B4-BE49-F238E27FC236}">
                <a16:creationId xmlns:a16="http://schemas.microsoft.com/office/drawing/2014/main" id="{D77303CF-39F3-4E5F-968B-FD2D93A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软件系统分析与设计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作业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3 ·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需求分析成果汇报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Box 2">
            <a:extLst xmlns:a="http://schemas.openxmlformats.org/drawingml/2006/main">
              <a:ext uri="{FF2B5EF4-FFF2-40B4-BE49-F238E27FC236}">
                <a16:creationId xmlns:a16="http://schemas.microsoft.com/office/drawing/2014/main" id="{EB4F7C7A-98DC-4AE7-BF5F-21C72AB3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学术成果分享平台需求分析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Box 3">
            <a:extLst xmlns:a="http://schemas.openxmlformats.org/drawingml/2006/main">
              <a:ext uri="{FF2B5EF4-FFF2-40B4-BE49-F238E27FC236}">
                <a16:creationId xmlns:a16="http://schemas.microsoft.com/office/drawing/2014/main" id="{AC35141E-C3B5-4DCB-A158-DB05DFBB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2055600"/>
            <a:ext cx="1079964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40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学术成果分享平台</a:t>
            </a:r>
            <a:endParaRPr sz="4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4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CognitaNexus × OvO</a:t>
            </a:r>
            <a:endParaRPr sz="4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Box 4">
            <a:extLst xmlns:a="http://schemas.openxmlformats.org/drawingml/2006/main">
              <a:ext uri="{FF2B5EF4-FFF2-40B4-BE49-F238E27FC236}">
                <a16:creationId xmlns:a16="http://schemas.microsoft.com/office/drawing/2014/main" id="{1C04C08A-5974-4A2A-A5CD-55D1E57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3841200"/>
            <a:ext cx="11879640" cy="5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论文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专利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科研项目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获奖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业务对象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核心业务类图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· </a:t>
            </a: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三条关键业务流程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TextBox 5">
            <a:extLst xmlns:a="http://schemas.openxmlformats.org/drawingml/2006/main">
              <a:ext uri="{FF2B5EF4-FFF2-40B4-BE49-F238E27FC236}">
                <a16:creationId xmlns:a16="http://schemas.microsoft.com/office/drawing/2014/main" id="{B107843D-BFA1-4245-BA6A-DEBA21B2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5576400"/>
            <a:ext cx="12779640" cy="11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第 03 组　团队名称：可御风雪可燃冰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OvO：高昕宇（对象识别与报告）　王昊涵（核心业务类图）　宋显涵（数据采集入库）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李昊阳（门户认领审核）　孙子涵（检索请求处理与 PPT 整合）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主讲：高昕宇、孙子涵　文档记录：李昊阳　汇报 12 分钟　问答 3 分钟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TextBox 6">
            <a:extLst xmlns:a="http://schemas.openxmlformats.org/drawingml/2006/main">
              <a:ext uri="{FF2B5EF4-FFF2-40B4-BE49-F238E27FC236}">
                <a16:creationId xmlns:a16="http://schemas.microsoft.com/office/drawing/2014/main" id="{C6DD95F2-1CDA-4124-AB1B-4E338BE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Box 7">
            <a:extLst xmlns:a="http://schemas.openxmlformats.org/drawingml/2006/main">
              <a:ext uri="{FF2B5EF4-FFF2-40B4-BE49-F238E27FC236}">
                <a16:creationId xmlns:a16="http://schemas.microsoft.com/office/drawing/2014/main" id="{3D47F1EC-A301-4632-A661-FE66B758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9454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TextBox 1">
            <a:extLst xmlns:a="http://schemas.openxmlformats.org/drawingml/2006/main">
              <a:ext uri="{FF2B5EF4-FFF2-40B4-BE49-F238E27FC236}">
                <a16:creationId xmlns:a16="http://schemas.microsoft.com/office/drawing/2014/main" id="{76376B84-B561-41EC-B740-9E3100FE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01  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业务对象识别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Box 2">
            <a:extLst xmlns:a="http://schemas.openxmlformats.org/drawingml/2006/main">
              <a:ext uri="{FF2B5EF4-FFF2-40B4-BE49-F238E27FC236}">
                <a16:creationId xmlns:a16="http://schemas.microsoft.com/office/drawing/2014/main" id="{9FFD506A-4D10-436D-847A-D0A3A71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核心业务对象识别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Box 3">
            <a:extLst xmlns:a="http://schemas.openxmlformats.org/drawingml/2006/main">
              <a:ext uri="{FF2B5EF4-FFF2-40B4-BE49-F238E27FC236}">
                <a16:creationId xmlns:a16="http://schemas.microsoft.com/office/drawing/2014/main" id="{AA34DCFB-EFB0-44E5-8FEC-8FF22A39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TextBox 4">
            <a:extLst xmlns:a="http://schemas.openxmlformats.org/drawingml/2006/main">
              <a:ext uri="{FF2B5EF4-FFF2-40B4-BE49-F238E27FC236}">
                <a16:creationId xmlns:a16="http://schemas.microsoft.com/office/drawing/2014/main" id="{660E7F37-2319-4C20-BA23-918C596D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TextBox 5">
            <a:extLst xmlns:a="http://schemas.openxmlformats.org/drawingml/2006/main">
              <a:ext uri="{FF2B5EF4-FFF2-40B4-BE49-F238E27FC236}">
                <a16:creationId xmlns:a16="http://schemas.microsoft.com/office/drawing/2014/main" id="{B9FCD10F-1294-4758-978B-440CED8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1918800"/>
            <a:ext cx="6227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身份与认领授权 </a:t>
            </a: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· 6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Box 6">
            <a:extLst xmlns:a="http://schemas.openxmlformats.org/drawingml/2006/main">
              <a:ext uri="{FF2B5EF4-FFF2-40B4-BE49-F238E27FC236}">
                <a16:creationId xmlns:a16="http://schemas.microsoft.com/office/drawing/2014/main" id="{6BF9EAAF-7D40-4AB2-8A1D-0B8B43B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2548800"/>
            <a:ext cx="6227640" cy="100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账号、个人主页、学者档案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认领申请、认领证据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门户授权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Box 7">
            <a:extLst xmlns:a="http://schemas.openxmlformats.org/drawingml/2006/main">
              <a:ext uri="{FF2B5EF4-FFF2-40B4-BE49-F238E27FC236}">
                <a16:creationId xmlns:a16="http://schemas.microsoft.com/office/drawing/2014/main" id="{6822E036-9A38-4668-9443-004B20FA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0" y="1918800"/>
            <a:ext cx="6227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学术成果与类型 </a:t>
            </a: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· 5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Box 8">
            <a:extLst xmlns:a="http://schemas.openxmlformats.org/drawingml/2006/main">
              <a:ext uri="{FF2B5EF4-FFF2-40B4-BE49-F238E27FC236}">
                <a16:creationId xmlns:a16="http://schemas.microsoft.com/office/drawing/2014/main" id="{CA14432D-CA0D-4C03-AFF6-207AFD7D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0" y="2548800"/>
            <a:ext cx="6227640" cy="100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学术成果（抽象父类）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论文、专利、科研项目、获奖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专属字段与去重键在子类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Box 9">
            <a:extLst xmlns:a="http://schemas.openxmlformats.org/drawingml/2006/main">
              <a:ext uri="{FF2B5EF4-FFF2-40B4-BE49-F238E27FC236}">
                <a16:creationId xmlns:a16="http://schemas.microsoft.com/office/drawing/2014/main" id="{95A1603A-6533-4998-A411-2A4EFB04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4536000"/>
            <a:ext cx="6227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参与关系与分类 </a:t>
            </a: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· 3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2B722D-F6C8-4566-AB4C-4F9B02E4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0" y="5166000"/>
            <a:ext cx="6227640" cy="63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成果参与关系（角色、顺序、状态）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机构、学术领域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Box 11">
            <a:extLst xmlns:a="http://schemas.openxmlformats.org/drawingml/2006/main">
              <a:ext uri="{FF2B5EF4-FFF2-40B4-BE49-F238E27FC236}">
                <a16:creationId xmlns:a16="http://schemas.microsoft.com/office/drawing/2014/main" id="{F2BAF734-C6D3-4C37-B421-D1E61B7E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0" y="4536000"/>
            <a:ext cx="6227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出处与变化 </a:t>
            </a: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· 4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Box 12">
            <a:extLst xmlns:a="http://schemas.openxmlformats.org/drawingml/2006/main">
              <a:ext uri="{FF2B5EF4-FFF2-40B4-BE49-F238E27FC236}">
                <a16:creationId xmlns:a16="http://schemas.microsoft.com/office/drawing/2014/main" id="{06B1C0DB-E9F2-4EB1-9839-9EEBA74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0" y="5166000"/>
            <a:ext cx="6227640" cy="63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来源记录、版本证据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700"/>
              </a:spcAft>
              <a:buNone/>
            </a:pPr>
            <a:r>
              <a:rPr sz="18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更新记录、采集任务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3">
            <a:extLst xmlns:a="http://schemas.openxmlformats.org/drawingml/2006/main">
              <a:ext uri="{FF2B5EF4-FFF2-40B4-BE49-F238E27FC236}">
                <a16:creationId xmlns:a16="http://schemas.microsoft.com/office/drawing/2014/main" id="{572BBB2E-5011-4A66-A737-F3D4997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056000"/>
            <a:ext cx="13319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识别标准：具有独立身份与状态；承担需长期保留的业务证据；被两个以上用例反复读取。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3096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TextBox 1">
            <a:extLst xmlns:a="http://schemas.openxmlformats.org/drawingml/2006/main">
              <a:ext uri="{FF2B5EF4-FFF2-40B4-BE49-F238E27FC236}">
                <a16:creationId xmlns:a16="http://schemas.microsoft.com/office/drawing/2014/main" id="{7EAE556A-F63E-4C66-A576-93F45A26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OvO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Box 2">
            <a:extLst xmlns:a="http://schemas.openxmlformats.org/drawingml/2006/main">
              <a:ext uri="{FF2B5EF4-FFF2-40B4-BE49-F238E27FC236}">
                <a16:creationId xmlns:a16="http://schemas.microsoft.com/office/drawing/2014/main" id="{55E5F1C5-DB3B-4268-BAE7-8E35B86A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核心业务类图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TextBox 3">
            <a:extLst xmlns:a="http://schemas.openxmlformats.org/drawingml/2006/main">
              <a:ext uri="{FF2B5EF4-FFF2-40B4-BE49-F238E27FC236}">
                <a16:creationId xmlns:a16="http://schemas.microsoft.com/office/drawing/2014/main" id="{37B720F8-FDD5-46B7-AAE8-337B5E4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OvO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Box 4">
            <a:extLst xmlns:a="http://schemas.openxmlformats.org/drawingml/2006/main">
              <a:ext uri="{FF2B5EF4-FFF2-40B4-BE49-F238E27FC236}">
                <a16:creationId xmlns:a16="http://schemas.microsoft.com/office/drawing/2014/main" id="{537E20EA-83E0-48AB-A61F-4396F5E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Picture 5">
            <a:extLst xmlns:a="http://schemas.openxmlformats.org/drawingml/2006/main">
              <a:ext uri="{FF2B5EF4-FFF2-40B4-BE49-F238E27FC236}">
                <a16:creationId xmlns:a16="http://schemas.microsoft.com/office/drawing/2014/main" id="{1299B880-1068-4765-851E-F27854E6A1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2b6112304f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14500"/>
            <a:ext cx="5334000" cy="5429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0" name="TextBox 6">
            <a:extLst xmlns:a="http://schemas.openxmlformats.org/drawingml/2006/main">
              <a:ext uri="{FF2B5EF4-FFF2-40B4-BE49-F238E27FC236}">
                <a16:creationId xmlns:a16="http://schemas.microsoft.com/office/drawing/2014/main" id="{03D027C2-6329-4689-9B75-C26614E0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0" y="1944000"/>
            <a:ext cx="8135640" cy="286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5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按四组组织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①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身份与认领授权：账号、个人主页、学者档案、认领申请、认领证据、门户授权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②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学术成果与类型：抽象父类＋论文、专利、科研项目、获奖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③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参与关系与分类：成果参与关系（关联类）、机构、学术领域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④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出处与变化：来源记录、版本证据、更新记录、采集任务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endParaRPr sz="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关键基数：学者—成果两端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0..*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；来源记录对成果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0..1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；更新记录对成果 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1—0..*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。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状态集合：认领申请六态、参与关系五态、采集任务六态、成果三种公开状态。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endParaRPr sz="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属性为业务信息，操作为业务职责；不含界面、控制、服务、仓储与部署元素。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8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下三页按分区放大：身份与认领授权、参与关系与分类、成果继承与出处。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97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158EE5-C4A2-4E05-9D77-3146B71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3F2E91-7648-49DB-9119-9D5D29B3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Box 31">
            <a:extLst xmlns:a="http://schemas.openxmlformats.org/drawingml/2006/main">
              <a:ext uri="{FF2B5EF4-FFF2-40B4-BE49-F238E27FC236}">
                <a16:creationId xmlns:a16="http://schemas.microsoft.com/office/drawing/2014/main" id="{A4AC7E5C-38A8-4B91-90A5-D972DA1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图片 107">
            <a:extLst xmlns:a="http://schemas.openxmlformats.org/drawingml/2006/main">
              <a:ext uri="{FF2B5EF4-FFF2-40B4-BE49-F238E27FC236}">
                <a16:creationId xmlns:a16="http://schemas.microsoft.com/office/drawing/2014/main" id="{75854300-0D9D-4187-90D3-EF586C094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4cd7dff02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9580" y="1300000"/>
            <a:ext cx="10371240" cy="54543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7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AE23A-2D2D-4845-86BE-B1045F22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00000"/>
            <a:ext cx="13427640" cy="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局部一：身份与认领授权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447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5B8D1B8-2BFE-4AC5-9303-78DCF461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Box 32">
            <a:extLst xmlns:a="http://schemas.openxmlformats.org/drawingml/2006/main">
              <a:ext uri="{FF2B5EF4-FFF2-40B4-BE49-F238E27FC236}">
                <a16:creationId xmlns:a16="http://schemas.microsoft.com/office/drawing/2014/main" id="{131C9F2E-4091-4517-9467-376A7232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Box 35">
            <a:extLst xmlns:a="http://schemas.openxmlformats.org/drawingml/2006/main">
              <a:ext uri="{FF2B5EF4-FFF2-40B4-BE49-F238E27FC236}">
                <a16:creationId xmlns:a16="http://schemas.microsoft.com/office/drawing/2014/main" id="{A7B607DA-8112-4399-8798-250E2FF5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图片 113">
            <a:extLst xmlns:a="http://schemas.openxmlformats.org/drawingml/2006/main">
              <a:ext uri="{FF2B5EF4-FFF2-40B4-BE49-F238E27FC236}">
                <a16:creationId xmlns:a16="http://schemas.microsoft.com/office/drawing/2014/main" id="{CBE78982-18A1-4EE3-825E-F7C1D55565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251256b6d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6247" y="1300000"/>
            <a:ext cx="11297905" cy="64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7" name="TextBox 2">
            <a:extLst xmlns:a="http://schemas.openxmlformats.org/drawingml/2006/main">
              <a:ext uri="{FF2B5EF4-FFF2-40B4-BE49-F238E27FC236}">
                <a16:creationId xmlns:a16="http://schemas.microsoft.com/office/drawing/2014/main" id="{11752893-7932-4414-8BAE-A55946A8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00000"/>
            <a:ext cx="13427640" cy="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局部二：参与关系与分类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3050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TextBox 38">
            <a:extLst xmlns:a="http://schemas.openxmlformats.org/drawingml/2006/main">
              <a:ext uri="{FF2B5EF4-FFF2-40B4-BE49-F238E27FC236}">
                <a16:creationId xmlns:a16="http://schemas.microsoft.com/office/drawing/2014/main" id="{19593059-30DE-468C-8574-FCED595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39">
            <a:extLst xmlns:a="http://schemas.openxmlformats.org/drawingml/2006/main">
              <a:ext uri="{FF2B5EF4-FFF2-40B4-BE49-F238E27FC236}">
                <a16:creationId xmlns:a16="http://schemas.microsoft.com/office/drawing/2014/main" id="{59888E01-D631-4CC1-99E7-1F4AC6DF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Box 40">
            <a:extLst xmlns:a="http://schemas.openxmlformats.org/drawingml/2006/main">
              <a:ext uri="{FF2B5EF4-FFF2-40B4-BE49-F238E27FC236}">
                <a16:creationId xmlns:a16="http://schemas.microsoft.com/office/drawing/2014/main" id="{8D6DD9BB-CA22-4C00-9508-E6654742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0" name="图片 119">
            <a:extLst xmlns:a="http://schemas.openxmlformats.org/drawingml/2006/main">
              <a:ext uri="{FF2B5EF4-FFF2-40B4-BE49-F238E27FC236}">
                <a16:creationId xmlns:a16="http://schemas.microsoft.com/office/drawing/2014/main" id="{BF55FFA9-0AAC-4F65-A392-40267C6799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df9f8462e4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44358" y="1300000"/>
            <a:ext cx="9541684" cy="64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7" name="TextBox 2">
            <a:extLst xmlns:a="http://schemas.openxmlformats.org/drawingml/2006/main">
              <a:ext uri="{FF2B5EF4-FFF2-40B4-BE49-F238E27FC236}">
                <a16:creationId xmlns:a16="http://schemas.microsoft.com/office/drawing/2014/main" id="{B0836561-70D0-4244-9B70-BA686D1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00000"/>
            <a:ext cx="13427640" cy="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局部三：成果继承与出处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150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TextBox 1">
            <a:extLst xmlns:a="http://schemas.openxmlformats.org/drawingml/2006/main">
              <a:ext uri="{FF2B5EF4-FFF2-40B4-BE49-F238E27FC236}">
                <a16:creationId xmlns:a16="http://schemas.microsoft.com/office/drawing/2014/main" id="{09E9D886-0C6E-4CA9-A906-3EB6153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2">
            <a:extLst xmlns:a="http://schemas.openxmlformats.org/drawingml/2006/main">
              <a:ext uri="{FF2B5EF4-FFF2-40B4-BE49-F238E27FC236}">
                <a16:creationId xmlns:a16="http://schemas.microsoft.com/office/drawing/2014/main" id="{9FEA0343-FCDC-4C1F-8348-85B4C697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核心类及关联关系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TextBox 3">
            <a:extLst xmlns:a="http://schemas.openxmlformats.org/drawingml/2006/main">
              <a:ext uri="{FF2B5EF4-FFF2-40B4-BE49-F238E27FC236}">
                <a16:creationId xmlns:a16="http://schemas.microsoft.com/office/drawing/2014/main" id="{F094D965-EC50-43D0-AD32-875C1ECA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Box 4">
            <a:extLst xmlns:a="http://schemas.openxmlformats.org/drawingml/2006/main">
              <a:ext uri="{FF2B5EF4-FFF2-40B4-BE49-F238E27FC236}">
                <a16:creationId xmlns:a16="http://schemas.microsoft.com/office/drawing/2014/main" id="{C01D00C6-DC54-4906-B943-03062185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TextBox 5">
            <a:extLst xmlns:a="http://schemas.openxmlformats.org/drawingml/2006/main">
              <a:ext uri="{FF2B5EF4-FFF2-40B4-BE49-F238E27FC236}">
                <a16:creationId xmlns:a16="http://schemas.microsoft.com/office/drawing/2014/main" id="{D735DCDB-FE2E-4D05-A179-DF46B52A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2016000"/>
            <a:ext cx="6587640" cy="29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1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个人主页（拥有）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个人主页 — 学者档案：不建立强制关联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认领申请（提出）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认领申请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0..* — 1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学者档案（认领目标）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认领申请 ◆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认领证据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门户授权（被授予）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学者档案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门户授权（授权目标）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6">
            <a:extLst xmlns:a="http://schemas.openxmlformats.org/drawingml/2006/main">
              <a:ext uri="{FF2B5EF4-FFF2-40B4-BE49-F238E27FC236}">
                <a16:creationId xmlns:a16="http://schemas.microsoft.com/office/drawing/2014/main" id="{75D3233B-5C26-4897-82D6-B9E8558D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000" y="2016000"/>
            <a:ext cx="6479640" cy="292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学者档案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0..*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学术成果（参与，关联类：参与关系）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 ◆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版本证据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 ◇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来源记录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更新记录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采集任务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来源记录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学者档案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0..*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机构、学术领域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6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学术成果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0..* — 0..*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机构、学术领域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Box 7">
            <a:extLst xmlns:a="http://schemas.openxmlformats.org/drawingml/2006/main">
              <a:ext uri="{FF2B5EF4-FFF2-40B4-BE49-F238E27FC236}">
                <a16:creationId xmlns:a16="http://schemas.microsoft.com/office/drawing/2014/main" id="{CEB31DFA-5399-46FB-A26B-FA15A10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5508000"/>
            <a:ext cx="13319640" cy="72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5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◇ </a:t>
            </a: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聚合：来源可先于成果到达，成果端为 </a:t>
            </a: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0..1</a:t>
            </a: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；◆ 组合：认领证据依附申请，版本证据依附成果。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5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更新记录与成果之间为普通关联：审计留痕按留存要求保存，不随成果删除。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5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个人主页与学者档案之间不建立强制关联：同名不合并，主页不生成学者身份。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5306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TextBox 1">
            <a:extLst xmlns:a="http://schemas.openxmlformats.org/drawingml/2006/main">
              <a:ext uri="{FF2B5EF4-FFF2-40B4-BE49-F238E27FC236}">
                <a16:creationId xmlns:a16="http://schemas.microsoft.com/office/drawing/2014/main" id="{3F8A7749-D965-44B4-A007-1F4F8B0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02  /  核心业务类图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TextBox 2">
            <a:extLst xmlns:a="http://schemas.openxmlformats.org/drawingml/2006/main">
              <a:ext uri="{FF2B5EF4-FFF2-40B4-BE49-F238E27FC236}">
                <a16:creationId xmlns:a16="http://schemas.microsoft.com/office/drawing/2014/main" id="{A86D1CF7-1639-4A3A-B98B-8703D4A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科研成果类型及继承关系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Box 3">
            <a:extLst xmlns:a="http://schemas.openxmlformats.org/drawingml/2006/main">
              <a:ext uri="{FF2B5EF4-FFF2-40B4-BE49-F238E27FC236}">
                <a16:creationId xmlns:a16="http://schemas.microsoft.com/office/drawing/2014/main" id="{954864C4-2499-43D6-AAF8-2AE432AE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4">
            <a:extLst xmlns:a="http://schemas.openxmlformats.org/drawingml/2006/main">
              <a:ext uri="{FF2B5EF4-FFF2-40B4-BE49-F238E27FC236}">
                <a16:creationId xmlns:a16="http://schemas.microsoft.com/office/drawing/2014/main" id="{B07757BF-FF89-4989-B5A9-009AD8CA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Box 5">
            <a:extLst xmlns:a="http://schemas.openxmlformats.org/drawingml/2006/main">
              <a:ext uri="{FF2B5EF4-FFF2-40B4-BE49-F238E27FC236}">
                <a16:creationId xmlns:a16="http://schemas.microsoft.com/office/drawing/2014/main" id="{D8FCD4E4-A16A-46EF-8BA1-297FA709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80000"/>
            <a:ext cx="1511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类型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Box 6">
            <a:extLst xmlns:a="http://schemas.openxmlformats.org/drawingml/2006/main">
              <a:ext uri="{FF2B5EF4-FFF2-40B4-BE49-F238E27FC236}">
                <a16:creationId xmlns:a16="http://schemas.microsoft.com/office/drawing/2014/main" id="{DB617D88-D152-48C0-AFC4-89536E8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" y="1980000"/>
            <a:ext cx="3743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专属字段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Box 7">
            <a:extLst xmlns:a="http://schemas.openxmlformats.org/drawingml/2006/main">
              <a:ext uri="{FF2B5EF4-FFF2-40B4-BE49-F238E27FC236}">
                <a16:creationId xmlns:a16="http://schemas.microsoft.com/office/drawing/2014/main" id="{51ACE332-10EF-41C8-9C68-20CBF757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00" y="1980000"/>
            <a:ext cx="4319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去重与稳定标识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Box 8">
            <a:extLst xmlns:a="http://schemas.openxmlformats.org/drawingml/2006/main">
              <a:ext uri="{FF2B5EF4-FFF2-40B4-BE49-F238E27FC236}">
                <a16:creationId xmlns:a16="http://schemas.microsoft.com/office/drawing/2014/main" id="{C550ABAB-E7B1-44B4-AD25-7C9A632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1980000"/>
            <a:ext cx="3239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参与角色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Box 9">
            <a:extLst xmlns:a="http://schemas.openxmlformats.org/drawingml/2006/main">
              <a:ext uri="{FF2B5EF4-FFF2-40B4-BE49-F238E27FC236}">
                <a16:creationId xmlns:a16="http://schemas.microsoft.com/office/drawing/2014/main" id="{BE023A79-24AD-4CAE-A792-DB972D8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2520000"/>
            <a:ext cx="1511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论文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39792A-F757-418F-B79A-4EDBCEEC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" y="2520000"/>
            <a:ext cx="3743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DOI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、发表载体、发表日期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A87B11-37B0-4F40-817F-01B897F3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00" y="2520000"/>
            <a:ext cx="431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DOI</a:t>
            </a: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；缺失时以标题、年份、载体作为候选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DC32C9-88A7-4281-A684-971271B4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2520000"/>
            <a:ext cx="323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作者，按署名顺序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CAB5CE-5638-4AFC-883B-D0C73F6C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438000"/>
            <a:ext cx="1511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专利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B88FB0-276C-4FAA-A15B-D01F5D0A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" y="3438000"/>
            <a:ext cx="3743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申请号、辖区、申请日期、公开日期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Box 15">
            <a:extLst xmlns:a="http://schemas.openxmlformats.org/drawingml/2006/main">
              <a:ext uri="{FF2B5EF4-FFF2-40B4-BE49-F238E27FC236}">
                <a16:creationId xmlns:a16="http://schemas.microsoft.com/office/drawing/2014/main" id="{EF1922E5-5414-47E3-92C9-B654E686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00" y="3438000"/>
            <a:ext cx="431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申请号＋辖区；辖区未知不构成稳定键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CD70DD-6DA2-4F34-8C17-6F5B12F6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3438000"/>
            <a:ext cx="323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发明人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FD15B6-5AA6-40E3-BB9E-1FCDD09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356000"/>
            <a:ext cx="1511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科研项目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B73E6B-2575-4510-ABC0-FE271552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" y="4356000"/>
            <a:ext cx="3743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项目编号、起止时间、承担单位原值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Box 19">
            <a:extLst xmlns:a="http://schemas.openxmlformats.org/drawingml/2006/main">
              <a:ext uri="{FF2B5EF4-FFF2-40B4-BE49-F238E27FC236}">
                <a16:creationId xmlns:a16="http://schemas.microsoft.com/office/drawing/2014/main" id="{8B69FEF3-CD14-4911-94C6-B6B37D4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00" y="4356000"/>
            <a:ext cx="431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项目编号，按作用域归一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20">
            <a:extLst xmlns:a="http://schemas.openxmlformats.org/drawingml/2006/main">
              <a:ext uri="{FF2B5EF4-FFF2-40B4-BE49-F238E27FC236}">
                <a16:creationId xmlns:a16="http://schemas.microsoft.com/office/drawing/2014/main" id="{AA3F72D9-BC9C-4B18-8085-82523B4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4356000"/>
            <a:ext cx="323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项目成员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Box 21">
            <a:extLst xmlns:a="http://schemas.openxmlformats.org/drawingml/2006/main">
              <a:ext uri="{FF2B5EF4-FFF2-40B4-BE49-F238E27FC236}">
                <a16:creationId xmlns:a16="http://schemas.microsoft.com/office/drawing/2014/main" id="{7D99977A-B9A3-4D2C-9181-7FC4B7DA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274000"/>
            <a:ext cx="1511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获奖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22">
            <a:extLst xmlns:a="http://schemas.openxmlformats.org/drawingml/2006/main">
              <a:ext uri="{FF2B5EF4-FFF2-40B4-BE49-F238E27FC236}">
                <a16:creationId xmlns:a16="http://schemas.microsoft.com/office/drawing/2014/main" id="{604D00B1-9A06-4B07-8922-04A20BEA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" y="5274000"/>
            <a:ext cx="3743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奖项名称、获奖年度、获奖团队名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Box 23">
            <a:extLst xmlns:a="http://schemas.openxmlformats.org/drawingml/2006/main">
              <a:ext uri="{FF2B5EF4-FFF2-40B4-BE49-F238E27FC236}">
                <a16:creationId xmlns:a16="http://schemas.microsoft.com/office/drawing/2014/main" id="{100A6128-4EB6-48AE-996B-F7DDAEB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000" y="5274000"/>
            <a:ext cx="431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奖项名称＋年度＋获奖主体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Box 24">
            <a:extLst xmlns:a="http://schemas.openxmlformats.org/drawingml/2006/main">
              <a:ext uri="{FF2B5EF4-FFF2-40B4-BE49-F238E27FC236}">
                <a16:creationId xmlns:a16="http://schemas.microsoft.com/office/drawing/2014/main" id="{F2EC8304-38C3-42DF-A31C-E13DBAFE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0" y="5274000"/>
            <a:ext cx="3239640" cy="21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4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获奖成员</a:t>
            </a:r>
            <a:endParaRPr sz="1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Box 25">
            <a:extLst xmlns:a="http://schemas.openxmlformats.org/drawingml/2006/main">
              <a:ext uri="{FF2B5EF4-FFF2-40B4-BE49-F238E27FC236}">
                <a16:creationId xmlns:a16="http://schemas.microsoft.com/office/drawing/2014/main" id="{74A0D328-F7F2-484A-94FC-2E87DA6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624000"/>
            <a:ext cx="13247640" cy="44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共同身份（成果标识、标题、发生年份、公开生效状态、数据性质）由父类保存；专属字段与去重键在子类。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400"/>
              </a:spcAft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参与关系统一由成果参与关系承载，不因子类拆分而复制；来源与版本关联父类，四类成果共用一套出处链。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66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TextBox 1">
            <a:extLst xmlns:a="http://schemas.openxmlformats.org/drawingml/2006/main">
              <a:ext uri="{FF2B5EF4-FFF2-40B4-BE49-F238E27FC236}">
                <a16:creationId xmlns:a16="http://schemas.microsoft.com/office/drawing/2014/main" id="{455C2805-D1A4-440D-935F-ACB5C1C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03  /  数据采集入库 · OvO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Box 2">
            <a:extLst xmlns:a="http://schemas.openxmlformats.org/drawingml/2006/main">
              <a:ext uri="{FF2B5EF4-FFF2-40B4-BE49-F238E27FC236}">
                <a16:creationId xmlns:a16="http://schemas.microsoft.com/office/drawing/2014/main" id="{254F9597-16D0-40B1-9061-6D6A001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数据采集入库流程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Box 3">
            <a:extLst xmlns:a="http://schemas.openxmlformats.org/drawingml/2006/main">
              <a:ext uri="{FF2B5EF4-FFF2-40B4-BE49-F238E27FC236}">
                <a16:creationId xmlns:a16="http://schemas.microsoft.com/office/drawing/2014/main" id="{CDFF4B99-EF55-4CF0-B80A-88F6BF4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OvO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9237F-E54F-4DE4-B830-1F991823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Box 5">
            <a:extLst xmlns:a="http://schemas.openxmlformats.org/drawingml/2006/main">
              <a:ext uri="{FF2B5EF4-FFF2-40B4-BE49-F238E27FC236}">
                <a16:creationId xmlns:a16="http://schemas.microsoft.com/office/drawing/2014/main" id="{CAA371A8-D630-43D6-B61F-95A282D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40" y="1627200"/>
            <a:ext cx="617220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上：权限与许可校验、分批取回、逐条治理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Box 6">
            <a:extLst xmlns:a="http://schemas.openxmlformats.org/drawingml/2006/main">
              <a:ext uri="{FF2B5EF4-FFF2-40B4-BE49-F238E27FC236}">
                <a16:creationId xmlns:a16="http://schemas.microsoft.com/office/drawing/2014/main" id="{059E1A87-F436-4733-B586-A372D6AC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200" y="1627200"/>
            <a:ext cx="617220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下：完成核对、成功与失败结论、停止与重试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63" name="Picture 7">
            <a:extLst xmlns:a="http://schemas.openxmlformats.org/drawingml/2006/main">
              <a:ext uri="{FF2B5EF4-FFF2-40B4-BE49-F238E27FC236}">
                <a16:creationId xmlns:a16="http://schemas.microsoft.com/office/drawing/2014/main" id="{3D909C05-8AFA-4563-97D9-368E508E8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dc2095b474b0e"/>
          <a:srcRect xmlns:a="http://schemas.openxmlformats.org/drawingml/2006/main" l="0" t="0" r="5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828800"/>
            <a:ext cx="6572250" cy="547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64" name="Picture 8">
            <a:extLst xmlns:a="http://schemas.openxmlformats.org/drawingml/2006/main">
              <a:ext uri="{FF2B5EF4-FFF2-40B4-BE49-F238E27FC236}">
                <a16:creationId xmlns:a16="http://schemas.microsoft.com/office/drawing/2014/main" id="{5F15B9FD-6601-49E8-9D3E-FD2FAFFEA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0a90def874f31"/>
          <a:srcRect xmlns:a="http://schemas.openxmlformats.org/drawingml/2006/main" l="5000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1828800"/>
            <a:ext cx="6572250" cy="547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  <p:extLst>
      <p:ext uri="{BB962C8B-B14F-4D97-AF65-F5344CB8AC3E}">
        <p14:creationId xmlns:p14="http://schemas.microsoft.com/office/powerpoint/2010/main" val="1905072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TextBox 1">
            <a:extLst xmlns:a="http://schemas.openxmlformats.org/drawingml/2006/main">
              <a:ext uri="{FF2B5EF4-FFF2-40B4-BE49-F238E27FC236}">
                <a16:creationId xmlns:a16="http://schemas.microsoft.com/office/drawing/2014/main" id="{73B8C0A1-EC50-4CCE-8C28-9B9CB15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03  /  数据采集入库 · OvO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Box 2">
            <a:extLst xmlns:a="http://schemas.openxmlformats.org/drawingml/2006/main">
              <a:ext uri="{FF2B5EF4-FFF2-40B4-BE49-F238E27FC236}">
                <a16:creationId xmlns:a16="http://schemas.microsoft.com/office/drawing/2014/main" id="{A6E6FF3E-DD70-4DC4-91D4-FA1B432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采集流程的校验与失败处理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Box 3">
            <a:extLst xmlns:a="http://schemas.openxmlformats.org/drawingml/2006/main">
              <a:ext uri="{FF2B5EF4-FFF2-40B4-BE49-F238E27FC236}">
                <a16:creationId xmlns:a16="http://schemas.microsoft.com/office/drawing/2014/main" id="{55B7BC9C-5D5D-4E00-93AA-B97FCF92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OvO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TextBox 4">
            <a:extLst xmlns:a="http://schemas.openxmlformats.org/drawingml/2006/main">
              <a:ext uri="{FF2B5EF4-FFF2-40B4-BE49-F238E27FC236}">
                <a16:creationId xmlns:a16="http://schemas.microsoft.com/office/drawing/2014/main" id="{6DB7B77E-F631-4AB4-B672-67299368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Box 5">
            <a:extLst xmlns:a="http://schemas.openxmlformats.org/drawingml/2006/main">
              <a:ext uri="{FF2B5EF4-FFF2-40B4-BE49-F238E27FC236}">
                <a16:creationId xmlns:a16="http://schemas.microsoft.com/office/drawing/2014/main" id="{495E16A7-785F-4487-8F45-D3CFCD23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80000"/>
            <a:ext cx="2591640" cy="30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校验顺序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Box 6">
            <a:extLst xmlns:a="http://schemas.openxmlformats.org/drawingml/2006/main">
              <a:ext uri="{FF2B5EF4-FFF2-40B4-BE49-F238E27FC236}">
                <a16:creationId xmlns:a16="http://schemas.microsoft.com/office/drawing/2014/main" id="{698477EE-302C-451F-85FE-E99D35A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980000"/>
            <a:ext cx="8783640" cy="26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账号状态与采集权限 → 来源启用与许可范围 → 创建任务（待执行）→ 启动（运行中）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Box 7">
            <a:extLst xmlns:a="http://schemas.openxmlformats.org/drawingml/2006/main">
              <a:ext uri="{FF2B5EF4-FFF2-40B4-BE49-F238E27FC236}">
                <a16:creationId xmlns:a16="http://schemas.microsoft.com/office/drawing/2014/main" id="{1C3CD231-44B1-4078-810A-428D390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0" y="1980000"/>
            <a:ext cx="179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M1—M10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Box 8">
            <a:extLst xmlns:a="http://schemas.openxmlformats.org/drawingml/2006/main">
              <a:ext uri="{FF2B5EF4-FFF2-40B4-BE49-F238E27FC236}">
                <a16:creationId xmlns:a16="http://schemas.microsoft.com/office/drawing/2014/main" id="{FFEA204E-6685-4AF0-A737-9DC98D8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078000"/>
            <a:ext cx="2591640" cy="30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拒绝与失败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extBox 9">
            <a:extLst xmlns:a="http://schemas.openxmlformats.org/drawingml/2006/main">
              <a:ext uri="{FF2B5EF4-FFF2-40B4-BE49-F238E27FC236}">
                <a16:creationId xmlns:a16="http://schemas.microsoft.com/office/drawing/2014/main" id="{01BF3B89-00DC-4639-B726-F136C77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3078000"/>
            <a:ext cx="8783640" cy="525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权限不足或来源未获许可：终止，不建任务、不返回来源与明细；读取超时或断连：任务转失败，保留已完成项与检查点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Box 10">
            <a:extLst xmlns:a="http://schemas.openxmlformats.org/drawingml/2006/main">
              <a:ext uri="{FF2B5EF4-FFF2-40B4-BE49-F238E27FC236}">
                <a16:creationId xmlns:a16="http://schemas.microsoft.com/office/drawing/2014/main" id="{A459C0C1-73A0-4C81-B233-DA80AF1F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0" y="3078000"/>
            <a:ext cx="179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M4</a:t>
            </a: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、</a:t>
            </a: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M7</a:t>
            </a: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、</a:t>
            </a: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M16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TextBox 11">
            <a:extLst xmlns:a="http://schemas.openxmlformats.org/drawingml/2006/main">
              <a:ext uri="{FF2B5EF4-FFF2-40B4-BE49-F238E27FC236}">
                <a16:creationId xmlns:a16="http://schemas.microsoft.com/office/drawing/2014/main" id="{F59E1912-1ACE-4849-BE5B-500684CB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176000"/>
            <a:ext cx="2591640" cy="30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完成核对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Box 12">
            <a:extLst xmlns:a="http://schemas.openxmlformats.org/drawingml/2006/main">
              <a:ext uri="{FF2B5EF4-FFF2-40B4-BE49-F238E27FC236}">
                <a16:creationId xmlns:a16="http://schemas.microsoft.com/office/drawing/2014/main" id="{71DE820E-C835-48F4-B19D-5A314217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4176000"/>
            <a:ext cx="8783640" cy="26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每条计划输入须落到成果或可追踪异常，否则不得判为成功；界面单列成功入库、待核验、异常三类数量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6EC803-6103-4AA1-8B26-994C693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0" y="4176000"/>
            <a:ext cx="179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M25—M30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Box 14">
            <a:extLst xmlns:a="http://schemas.openxmlformats.org/drawingml/2006/main">
              <a:ext uri="{FF2B5EF4-FFF2-40B4-BE49-F238E27FC236}">
                <a16:creationId xmlns:a16="http://schemas.microsoft.com/office/drawing/2014/main" id="{027A819C-E3C4-4399-9B2D-4F0ECA9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274000"/>
            <a:ext cx="2591640" cy="30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停止与重试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Box 15">
            <a:extLst xmlns:a="http://schemas.openxmlformats.org/drawingml/2006/main">
              <a:ext uri="{FF2B5EF4-FFF2-40B4-BE49-F238E27FC236}">
                <a16:creationId xmlns:a16="http://schemas.microsoft.com/office/drawing/2014/main" id="{89834BF6-5DAC-4672-880D-3ECDA59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5274000"/>
            <a:ext cx="8783640" cy="26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停止保留原因与检查点；重试从安全检查点幂等续取，不重复创建实体，成功历史与失败原因同时保留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Box 16">
            <a:extLst xmlns:a="http://schemas.openxmlformats.org/drawingml/2006/main">
              <a:ext uri="{FF2B5EF4-FFF2-40B4-BE49-F238E27FC236}">
                <a16:creationId xmlns:a16="http://schemas.microsoft.com/office/drawing/2014/main" id="{0A4DF1F8-D5CA-4318-AC85-FC6D1AC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0" y="5274000"/>
            <a:ext cx="179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M31—M39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Box 17">
            <a:extLst xmlns:a="http://schemas.openxmlformats.org/drawingml/2006/main">
              <a:ext uri="{FF2B5EF4-FFF2-40B4-BE49-F238E27FC236}">
                <a16:creationId xmlns:a16="http://schemas.microsoft.com/office/drawing/2014/main" id="{8D600492-8822-4E24-8FC1-21BD32EE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372000"/>
            <a:ext cx="2591640" cy="30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0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结果语义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Box 18">
            <a:extLst xmlns:a="http://schemas.openxmlformats.org/drawingml/2006/main">
              <a:ext uri="{FF2B5EF4-FFF2-40B4-BE49-F238E27FC236}">
                <a16:creationId xmlns:a16="http://schemas.microsoft.com/office/drawing/2014/main" id="{00A21C6A-4B61-4D7D-80B3-F71B4CE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6372000"/>
            <a:ext cx="8783640" cy="26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5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成功只表示本次处置完成，不等于治理通过，也不等于成果已公开；待核验项无公开可见性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D30DFB-1020-44B4-83F3-E0A630E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0" y="6372000"/>
            <a:ext cx="179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2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M25—M30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9909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TextBox 1">
            <a:extLst xmlns:a="http://schemas.openxmlformats.org/drawingml/2006/main">
              <a:ext uri="{FF2B5EF4-FFF2-40B4-BE49-F238E27FC236}">
                <a16:creationId xmlns:a16="http://schemas.microsoft.com/office/drawing/2014/main" id="{7DE58ED4-4994-4223-B3FB-883743F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04  /  门户认领审核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Box 2">
            <a:extLst xmlns:a="http://schemas.openxmlformats.org/drawingml/2006/main">
              <a:ext uri="{FF2B5EF4-FFF2-40B4-BE49-F238E27FC236}">
                <a16:creationId xmlns:a16="http://schemas.microsoft.com/office/drawing/2014/main" id="{9D398A34-BE51-41D2-B500-848E6AB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门户认领审核流程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Box 3">
            <a:extLst xmlns:a="http://schemas.openxmlformats.org/drawingml/2006/main">
              <a:ext uri="{FF2B5EF4-FFF2-40B4-BE49-F238E27FC236}">
                <a16:creationId xmlns:a16="http://schemas.microsoft.com/office/drawing/2014/main" id="{B7F8AC43-01A3-4EAF-B87B-BD8DAB7A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TextBox 4">
            <a:extLst xmlns:a="http://schemas.openxmlformats.org/drawingml/2006/main">
              <a:ext uri="{FF2B5EF4-FFF2-40B4-BE49-F238E27FC236}">
                <a16:creationId xmlns:a16="http://schemas.microsoft.com/office/drawing/2014/main" id="{D7B9EAAF-1F7D-42B1-A62F-2F215A02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5">
            <a:extLst xmlns:a="http://schemas.openxmlformats.org/drawingml/2006/main">
              <a:ext uri="{FF2B5EF4-FFF2-40B4-BE49-F238E27FC236}">
                <a16:creationId xmlns:a16="http://schemas.microsoft.com/office/drawing/2014/main" id="{AA259ADA-6459-4DCB-AB59-A55422DF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280" y="1627200"/>
            <a:ext cx="509256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上：提交与受理、证据齐备性判定、审核校验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6">
            <a:extLst xmlns:a="http://schemas.openxmlformats.org/drawingml/2006/main">
              <a:ext uri="{FF2B5EF4-FFF2-40B4-BE49-F238E27FC236}">
                <a16:creationId xmlns:a16="http://schemas.microsoft.com/office/drawing/2014/main" id="{B04D6525-1424-418C-9D6C-8A7397D3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200" y="1627200"/>
            <a:ext cx="509256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下：决定、授权与状态一致性、回读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4" name="Picture 7">
            <a:extLst xmlns:a="http://schemas.openxmlformats.org/drawingml/2006/main">
              <a:ext uri="{FF2B5EF4-FFF2-40B4-BE49-F238E27FC236}">
                <a16:creationId xmlns:a16="http://schemas.microsoft.com/office/drawing/2014/main" id="{5195D356-815A-44FC-AEF2-EC2B173C6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795a3aba84b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520" y="1836000"/>
            <a:ext cx="6673320" cy="5250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95" name="Picture 8">
            <a:extLst xmlns:a="http://schemas.openxmlformats.org/drawingml/2006/main">
              <a:ext uri="{FF2B5EF4-FFF2-40B4-BE49-F238E27FC236}">
                <a16:creationId xmlns:a16="http://schemas.microsoft.com/office/drawing/2014/main" id="{32277B54-F847-405A-96FE-EEF49716B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516af6f694f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9200" y="1836000"/>
            <a:ext cx="5619600" cy="60379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  <p:extLst>
      <p:ext uri="{BB962C8B-B14F-4D97-AF65-F5344CB8AC3E}">
        <p14:creationId xmlns:p14="http://schemas.microsoft.com/office/powerpoint/2010/main" val="905613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TextBox 1">
            <a:extLst xmlns:a="http://schemas.openxmlformats.org/drawingml/2006/main">
              <a:ext uri="{FF2B5EF4-FFF2-40B4-BE49-F238E27FC236}">
                <a16:creationId xmlns:a16="http://schemas.microsoft.com/office/drawing/2014/main" id="{2EE8EDEF-4DC9-4264-936F-A33BDE70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04  /  门户认领审核 · CognitaNexus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Box 2">
            <a:extLst xmlns:a="http://schemas.openxmlformats.org/drawingml/2006/main">
              <a:ext uri="{FF2B5EF4-FFF2-40B4-BE49-F238E27FC236}">
                <a16:creationId xmlns:a16="http://schemas.microsoft.com/office/drawing/2014/main" id="{C78DAA6D-DCF0-4D7E-93B0-ABF7D257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认领审核的校验顺序与失败出口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Box 3">
            <a:extLst xmlns:a="http://schemas.openxmlformats.org/drawingml/2006/main">
              <a:ext uri="{FF2B5EF4-FFF2-40B4-BE49-F238E27FC236}">
                <a16:creationId xmlns:a16="http://schemas.microsoft.com/office/drawing/2014/main" id="{518E3938-DCD8-44BB-B5EE-1C0F64FC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CognitaNexus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Box 4">
            <a:extLst xmlns:a="http://schemas.openxmlformats.org/drawingml/2006/main">
              <a:ext uri="{FF2B5EF4-FFF2-40B4-BE49-F238E27FC236}">
                <a16:creationId xmlns:a16="http://schemas.microsoft.com/office/drawing/2014/main" id="{4AD9F300-5409-4A4E-BADA-9EE88BFC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Box 5">
            <a:extLst xmlns:a="http://schemas.openxmlformats.org/drawingml/2006/main">
              <a:ext uri="{FF2B5EF4-FFF2-40B4-BE49-F238E27FC236}">
                <a16:creationId xmlns:a16="http://schemas.microsoft.com/office/drawing/2014/main" id="{4EBDE953-5968-4F65-89CE-F459E3D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44000"/>
            <a:ext cx="13319640" cy="24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6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校验顺序：账号与会话 → 目标为已收录学者 → 进行中申请查重 → 审核权限 → 申请状态与版本 → 读取私有材料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Box 6">
            <a:extLst xmlns:a="http://schemas.openxmlformats.org/drawingml/2006/main">
              <a:ext uri="{FF2B5EF4-FFF2-40B4-BE49-F238E27FC236}">
                <a16:creationId xmlns:a16="http://schemas.microsoft.com/office/drawing/2014/main" id="{4FE80357-7E1F-4EA9-AFB2-1CFA8AE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312000"/>
            <a:ext cx="3455640" cy="25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越权或版本变化</a:t>
            </a:r>
            <a:endParaRPr sz="17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Box 7">
            <a:extLst xmlns:a="http://schemas.openxmlformats.org/drawingml/2006/main">
              <a:ext uri="{FF2B5EF4-FFF2-40B4-BE49-F238E27FC236}">
                <a16:creationId xmlns:a16="http://schemas.microsoft.com/office/drawing/2014/main" id="{7F28D511-C5F8-48DB-83C1-77FC32DD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0" y="3312000"/>
            <a:ext cx="950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终止，不返回申请摘要与材料；版本变化要求重新打开，不复用旧视图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Box 8">
            <a:extLst xmlns:a="http://schemas.openxmlformats.org/drawingml/2006/main">
              <a:ext uri="{FF2B5EF4-FFF2-40B4-BE49-F238E27FC236}">
                <a16:creationId xmlns:a16="http://schemas.microsoft.com/office/drawing/2014/main" id="{F4DF5440-CD35-485D-81BD-F11789C4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050000"/>
            <a:ext cx="3455640" cy="25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理由缺失</a:t>
            </a:r>
            <a:endParaRPr sz="17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Box 9">
            <a:extLst xmlns:a="http://schemas.openxmlformats.org/drawingml/2006/main">
              <a:ext uri="{FF2B5EF4-FFF2-40B4-BE49-F238E27FC236}">
                <a16:creationId xmlns:a16="http://schemas.microsoft.com/office/drawing/2014/main" id="{54A142A7-A919-4640-9703-2B2A1239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0" y="4050000"/>
            <a:ext cx="950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本次决定无效，申请状态不变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14BA61-CA4B-4F7E-9A37-0756A465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788000"/>
            <a:ext cx="3455640" cy="25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要求补证</a:t>
            </a:r>
            <a:endParaRPr sz="17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Box 11">
            <a:extLst xmlns:a="http://schemas.openxmlformats.org/drawingml/2006/main">
              <a:ext uri="{FF2B5EF4-FFF2-40B4-BE49-F238E27FC236}">
                <a16:creationId xmlns:a16="http://schemas.microsoft.com/office/drawing/2014/main" id="{22EC67C1-BC96-4B8D-BEAB-690E05BD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0" y="4788000"/>
            <a:ext cx="950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转“待补充”，保留已提交材料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Box 12">
            <a:extLst xmlns:a="http://schemas.openxmlformats.org/drawingml/2006/main">
              <a:ext uri="{FF2B5EF4-FFF2-40B4-BE49-F238E27FC236}">
                <a16:creationId xmlns:a16="http://schemas.microsoft.com/office/drawing/2014/main" id="{72074915-6991-4A29-9E47-32FFC43A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526000"/>
            <a:ext cx="3455640" cy="25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存在未决冲突</a:t>
            </a:r>
            <a:endParaRPr sz="17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AB9EB0-4D9D-4C93-BA76-60F42CF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0" y="5526000"/>
            <a:ext cx="950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转“争议”，不建授权、不转移原授权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EE3F23-5999-4CD7-9C19-8E13168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264000"/>
            <a:ext cx="3455640" cy="25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7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批准</a:t>
            </a:r>
            <a:endParaRPr sz="17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Box 15">
            <a:extLst xmlns:a="http://schemas.openxmlformats.org/drawingml/2006/main">
              <a:ext uri="{FF2B5EF4-FFF2-40B4-BE49-F238E27FC236}">
                <a16:creationId xmlns:a16="http://schemas.microsoft.com/office/drawing/2014/main" id="{16A4466C-AFAD-4E9B-9AB5-4F76D06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0" y="6264000"/>
            <a:ext cx="950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建对象级授权 → 置“通过” → 写审计；授权失败保持原状态，状态或审计失败给补偿或置“待人工核对”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Box 16">
            <a:extLst xmlns:a="http://schemas.openxmlformats.org/drawingml/2006/main">
              <a:ext uri="{FF2B5EF4-FFF2-40B4-BE49-F238E27FC236}">
                <a16:creationId xmlns:a16="http://schemas.microsoft.com/office/drawing/2014/main" id="{5E83BAA8-F3FC-4D8C-B018-4C663AB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7128000"/>
            <a:ext cx="12959640" cy="19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对外只允许一个可解释的结论：界面不得显示“通过”而权限并不存在。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518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TextBox 1">
            <a:extLst xmlns:a="http://schemas.openxmlformats.org/drawingml/2006/main">
              <a:ext uri="{FF2B5EF4-FFF2-40B4-BE49-F238E27FC236}">
                <a16:creationId xmlns:a16="http://schemas.microsoft.com/office/drawing/2014/main" id="{15B8C54C-F43D-4B29-89FE-E1CF001D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05  /  检索请求处理 · OvO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TextBox 2">
            <a:extLst xmlns:a="http://schemas.openxmlformats.org/drawingml/2006/main">
              <a:ext uri="{FF2B5EF4-FFF2-40B4-BE49-F238E27FC236}">
                <a16:creationId xmlns:a16="http://schemas.microsoft.com/office/drawing/2014/main" id="{2A1BFB8B-B38F-4C6F-B650-157699A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检索请求处理流程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TextBox 3">
            <a:extLst xmlns:a="http://schemas.openxmlformats.org/drawingml/2006/main">
              <a:ext uri="{FF2B5EF4-FFF2-40B4-BE49-F238E27FC236}">
                <a16:creationId xmlns:a16="http://schemas.microsoft.com/office/drawing/2014/main" id="{06077EFD-9982-416F-8FD2-C9F89DBA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OvO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TextBox 4">
            <a:extLst xmlns:a="http://schemas.openxmlformats.org/drawingml/2006/main">
              <a:ext uri="{FF2B5EF4-FFF2-40B4-BE49-F238E27FC236}">
                <a16:creationId xmlns:a16="http://schemas.microsoft.com/office/drawing/2014/main" id="{543927A5-CA69-4A44-9906-2631936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5">
            <a:extLst xmlns:a="http://schemas.openxmlformats.org/drawingml/2006/main">
              <a:ext uri="{FF2B5EF4-FFF2-40B4-BE49-F238E27FC236}">
                <a16:creationId xmlns:a16="http://schemas.microsoft.com/office/drawing/2014/main" id="{718BC6C1-8231-4915-9899-9FE1FDB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60" y="1627200"/>
            <a:ext cx="593028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上：条件校验、范围选择、失败与空结果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TextBox 6">
            <a:extLst xmlns:a="http://schemas.openxmlformats.org/drawingml/2006/main">
              <a:ext uri="{FF2B5EF4-FFF2-40B4-BE49-F238E27FC236}">
                <a16:creationId xmlns:a16="http://schemas.microsoft.com/office/drawing/2014/main" id="{B8C7A5A3-A884-417B-BF3D-3B2247FC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200" y="1627200"/>
            <a:ext cx="5930280" cy="16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1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下：结果返回、来源摘要与稳定分页</a:t>
            </a:r>
            <a:endParaRPr sz="11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2" name="Picture 7">
            <a:extLst xmlns:a="http://schemas.openxmlformats.org/drawingml/2006/main">
              <a:ext uri="{FF2B5EF4-FFF2-40B4-BE49-F238E27FC236}">
                <a16:creationId xmlns:a16="http://schemas.microsoft.com/office/drawing/2014/main" id="{EEF0C223-1BA8-4C11-A57E-9A29536B6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67239ad414b8b"/>
          <a:srcRect xmlns:a="http://schemas.openxmlformats.org/drawingml/2006/main" l="0" t="0" r="5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828800"/>
            <a:ext cx="6572250" cy="547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223" name="Picture 8">
            <a:extLst xmlns:a="http://schemas.openxmlformats.org/drawingml/2006/main">
              <a:ext uri="{FF2B5EF4-FFF2-40B4-BE49-F238E27FC236}">
                <a16:creationId xmlns:a16="http://schemas.microsoft.com/office/drawing/2014/main" id="{922EC574-361E-40FE-80FE-65817AE61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cc3ebae3a43b0"/>
          <a:srcRect xmlns:a="http://schemas.openxmlformats.org/drawingml/2006/main" l="5000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72375" y="1828800"/>
            <a:ext cx="6572250" cy="547687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  <p:extLst>
      <p:ext uri="{BB962C8B-B14F-4D97-AF65-F5344CB8AC3E}">
        <p14:creationId xmlns:p14="http://schemas.microsoft.com/office/powerpoint/2010/main" val="2027883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TextBox 1">
            <a:extLst xmlns:a="http://schemas.openxmlformats.org/drawingml/2006/main">
              <a:ext uri="{FF2B5EF4-FFF2-40B4-BE49-F238E27FC236}">
                <a16:creationId xmlns:a16="http://schemas.microsoft.com/office/drawing/2014/main" id="{1475B675-6C2E-41FC-B175-CE99691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05  /  检索请求处理 · OvO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2">
            <a:extLst xmlns:a="http://schemas.openxmlformats.org/drawingml/2006/main">
              <a:ext uri="{FF2B5EF4-FFF2-40B4-BE49-F238E27FC236}">
                <a16:creationId xmlns:a16="http://schemas.microsoft.com/office/drawing/2014/main" id="{ED412BEC-9696-4B85-A399-F62E16F5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检索的四类结果与稳定分页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TextBox 3">
            <a:extLst xmlns:a="http://schemas.openxmlformats.org/drawingml/2006/main">
              <a:ext uri="{FF2B5EF4-FFF2-40B4-BE49-F238E27FC236}">
                <a16:creationId xmlns:a16="http://schemas.microsoft.com/office/drawing/2014/main" id="{D92D092E-64D2-4388-AD00-D58B5E84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OvO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4">
            <a:extLst xmlns:a="http://schemas.openxmlformats.org/drawingml/2006/main">
              <a:ext uri="{FF2B5EF4-FFF2-40B4-BE49-F238E27FC236}">
                <a16:creationId xmlns:a16="http://schemas.microsoft.com/office/drawing/2014/main" id="{FE362572-3DE2-4F5E-AEEA-E7A22DD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TextBox 5">
            <a:extLst xmlns:a="http://schemas.openxmlformats.org/drawingml/2006/main">
              <a:ext uri="{FF2B5EF4-FFF2-40B4-BE49-F238E27FC236}">
                <a16:creationId xmlns:a16="http://schemas.microsoft.com/office/drawing/2014/main" id="{5CD5F789-4609-4225-86F0-3058B739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44000"/>
            <a:ext cx="13319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条件非法、执行失败、无匹配、有匹配是四种结果，处理方式互不冒充。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extBox 6">
            <a:extLst xmlns:a="http://schemas.openxmlformats.org/drawingml/2006/main">
              <a:ext uri="{FF2B5EF4-FFF2-40B4-BE49-F238E27FC236}">
                <a16:creationId xmlns:a16="http://schemas.microsoft.com/office/drawing/2014/main" id="{D31F34BE-9661-4831-8C35-05156E6D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024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条件非法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7">
            <a:extLst xmlns:a="http://schemas.openxmlformats.org/drawingml/2006/main">
              <a:ext uri="{FF2B5EF4-FFF2-40B4-BE49-F238E27FC236}">
                <a16:creationId xmlns:a16="http://schemas.microsoft.com/office/drawing/2014/main" id="{DAFBD515-58F6-4897-90C9-8085D9C8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024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不执行查询，指出具体字段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Box 8">
            <a:extLst xmlns:a="http://schemas.openxmlformats.org/drawingml/2006/main">
              <a:ext uri="{FF2B5EF4-FFF2-40B4-BE49-F238E27FC236}">
                <a16:creationId xmlns:a16="http://schemas.microsoft.com/office/drawing/2014/main" id="{7F3AA2B7-8860-457F-8DD1-1028707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870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执行失败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9">
            <a:extLst xmlns:a="http://schemas.openxmlformats.org/drawingml/2006/main">
              <a:ext uri="{FF2B5EF4-FFF2-40B4-BE49-F238E27FC236}">
                <a16:creationId xmlns:a16="http://schemas.microsoft.com/office/drawing/2014/main" id="{ADBFC673-EE4B-4B8D-9A23-904D7FA9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870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提示失败并可重试，不显示空结果页面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extBox 10">
            <a:extLst xmlns:a="http://schemas.openxmlformats.org/drawingml/2006/main">
              <a:ext uri="{FF2B5EF4-FFF2-40B4-BE49-F238E27FC236}">
                <a16:creationId xmlns:a16="http://schemas.microsoft.com/office/drawing/2014/main" id="{E3EEAFA3-516C-413E-9B53-3356FAFE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716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无匹配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11">
            <a:extLst xmlns:a="http://schemas.openxmlformats.org/drawingml/2006/main">
              <a:ext uri="{FF2B5EF4-FFF2-40B4-BE49-F238E27FC236}">
                <a16:creationId xmlns:a16="http://schemas.microsoft.com/office/drawing/2014/main" id="{DAA1823F-94AE-4B0D-A452-5B86D51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4716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显示空结果并保留检索条件，不放宽筛选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extBox 12">
            <a:extLst xmlns:a="http://schemas.openxmlformats.org/drawingml/2006/main">
              <a:ext uri="{FF2B5EF4-FFF2-40B4-BE49-F238E27FC236}">
                <a16:creationId xmlns:a16="http://schemas.microsoft.com/office/drawing/2014/main" id="{37D8C920-1F0D-4204-8C42-1F3DF4E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562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有匹配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13">
            <a:extLst xmlns:a="http://schemas.openxmlformats.org/drawingml/2006/main">
              <a:ext uri="{FF2B5EF4-FFF2-40B4-BE49-F238E27FC236}">
                <a16:creationId xmlns:a16="http://schemas.microsoft.com/office/drawing/2014/main" id="{168A7075-7996-4545-A884-27CD662A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5562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返回当前页、总数、条件回显与来源摘要（来源名称、原站地址、许可范围）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1F5452-3F20-4D3C-A95E-83C3E4F6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408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稳定分页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870CA9-4B96-4B8A-9D9A-5088301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6408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仅在存在下一页时发生，携带同一查询上下文与稳定排序键；上下文失效要求重新查询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2566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TextBox 1">
            <a:extLst xmlns:a="http://schemas.openxmlformats.org/drawingml/2006/main">
              <a:ext uri="{FF2B5EF4-FFF2-40B4-BE49-F238E27FC236}">
                <a16:creationId xmlns:a16="http://schemas.microsoft.com/office/drawing/2014/main" id="{4B64818F-E74D-43A5-8C7E-C456887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06  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关键决策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2">
            <a:extLst xmlns:a="http://schemas.openxmlformats.org/drawingml/2006/main">
              <a:ext uri="{FF2B5EF4-FFF2-40B4-BE49-F238E27FC236}">
                <a16:creationId xmlns:a16="http://schemas.microsoft.com/office/drawing/2014/main" id="{4336E2A9-BC39-42D2-AE61-995FA98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关键建模决策与取舍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TextBox 3">
            <a:extLst xmlns:a="http://schemas.openxmlformats.org/drawingml/2006/main">
              <a:ext uri="{FF2B5EF4-FFF2-40B4-BE49-F238E27FC236}">
                <a16:creationId xmlns:a16="http://schemas.microsoft.com/office/drawing/2014/main" id="{D236D888-6CED-45D0-9611-553FF3E4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4">
            <a:extLst xmlns:a="http://schemas.openxmlformats.org/drawingml/2006/main">
              <a:ext uri="{FF2B5EF4-FFF2-40B4-BE49-F238E27FC236}">
                <a16:creationId xmlns:a16="http://schemas.microsoft.com/office/drawing/2014/main" id="{ACA06201-8034-48FF-87D2-A20C918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TextBox 5">
            <a:extLst xmlns:a="http://schemas.openxmlformats.org/drawingml/2006/main">
              <a:ext uri="{FF2B5EF4-FFF2-40B4-BE49-F238E27FC236}">
                <a16:creationId xmlns:a16="http://schemas.microsoft.com/office/drawing/2014/main" id="{3C4A36A4-960A-41BF-84CF-FA33102F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44000"/>
            <a:ext cx="13319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每个关键处我们都比较了两种做法，按业务规则选一种、放弃另一种，理由列在下面。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extBox 6">
            <a:extLst xmlns:a="http://schemas.openxmlformats.org/drawingml/2006/main">
              <a:ext uri="{FF2B5EF4-FFF2-40B4-BE49-F238E27FC236}">
                <a16:creationId xmlns:a16="http://schemas.microsoft.com/office/drawing/2014/main" id="{DA58788E-2CD2-4700-A1D5-1627AC29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024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身份建模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7">
            <a:extLst xmlns:a="http://schemas.openxmlformats.org/drawingml/2006/main">
              <a:ext uri="{FF2B5EF4-FFF2-40B4-BE49-F238E27FC236}">
                <a16:creationId xmlns:a16="http://schemas.microsoft.com/office/drawing/2014/main" id="{5B91AFD4-E3BC-4D03-889C-DA3A11C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024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三合一还是三分离 → 选三分离：合并等于注册即学者，同名也无法拒绝合并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Box 8">
            <a:extLst xmlns:a="http://schemas.openxmlformats.org/drawingml/2006/main">
              <a:ext uri="{FF2B5EF4-FFF2-40B4-BE49-F238E27FC236}">
                <a16:creationId xmlns:a16="http://schemas.microsoft.com/office/drawing/2014/main" id="{A873BC7F-2740-4ED9-9EAE-81CF8C3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6952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成果建模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9">
            <a:extLst xmlns:a="http://schemas.openxmlformats.org/drawingml/2006/main">
              <a:ext uri="{FF2B5EF4-FFF2-40B4-BE49-F238E27FC236}">
                <a16:creationId xmlns:a16="http://schemas.microsoft.com/office/drawing/2014/main" id="{6895828F-0989-4824-A9C0-C09B7AE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6952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单表加类型字段还是父类继承 → 选继承：专属字段与去重键必须落在子类上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0B0DF8-1303-4311-A396-8BE5BCB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3664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参与关系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11">
            <a:extLst xmlns:a="http://schemas.openxmlformats.org/drawingml/2006/main">
              <a:ext uri="{FF2B5EF4-FFF2-40B4-BE49-F238E27FC236}">
                <a16:creationId xmlns:a16="http://schemas.microsoft.com/office/drawing/2014/main" id="{97292C4D-13C5-4AB3-AD27-1414652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43664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两个外键还是关联类 → 选关联类：角色、署名顺序、认证状态要有地方放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0A6492-1D50-49B0-9C54-1729B02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0376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来源归属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13">
            <a:extLst xmlns:a="http://schemas.openxmlformats.org/drawingml/2006/main">
              <a:ext uri="{FF2B5EF4-FFF2-40B4-BE49-F238E27FC236}">
                <a16:creationId xmlns:a16="http://schemas.microsoft.com/office/drawing/2014/main" id="{189F5336-29AA-4772-B6AC-FD26C50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50376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内嵌字段还是独立记录 → 选独立并聚合，成果端 0..1：来源可先到，原值不被覆盖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Box 14">
            <a:extLst xmlns:a="http://schemas.openxmlformats.org/drawingml/2006/main">
              <a:ext uri="{FF2B5EF4-FFF2-40B4-BE49-F238E27FC236}">
                <a16:creationId xmlns:a16="http://schemas.microsoft.com/office/drawing/2014/main" id="{1079651E-2D1E-4939-BAF4-CA83057A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7088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审核顺序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A77FFA-C5E5-4034-99EE-2DDE2520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57088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先置通过还是先建授权 → 选先建授权：不允许显示通过而权限并不存在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Box 14">
            <a:extLst xmlns:a="http://schemas.openxmlformats.org/drawingml/2006/main">
              <a:ext uri="{FF2B5EF4-FFF2-40B4-BE49-F238E27FC236}">
                <a16:creationId xmlns:a16="http://schemas.microsoft.com/office/drawing/2014/main" id="{3C34A605-454B-4EDC-86A8-FA096B01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380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检索结果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A92AB2-4EED-4D16-8FEA-A432BCCA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6380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统一空列表还是四类结果 → 选四类分开：空列表会让系统故障冒充没有数据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3">
            <a:extLst xmlns:a="http://schemas.openxmlformats.org/drawingml/2006/main">
              <a:ext uri="{FF2B5EF4-FFF2-40B4-BE49-F238E27FC236}">
                <a16:creationId xmlns:a16="http://schemas.microsoft.com/office/drawing/2014/main" id="{C6A3A3E4-BC88-43C3-8AAA-DD78A0E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7056000"/>
            <a:ext cx="1331964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取舍判据只有三条：是否违反平台红线、是否让模型能唯一解释、是否给后续设计留下不可逆的假设。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51429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TextBox 1">
            <a:extLst xmlns:a="http://schemas.openxmlformats.org/drawingml/2006/main">
              <a:ext uri="{FF2B5EF4-FFF2-40B4-BE49-F238E27FC236}">
                <a16:creationId xmlns:a16="http://schemas.microsoft.com/office/drawing/2014/main" id="{C9A743F9-B821-41C7-930F-F9DFE00E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07  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一致性检查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2">
            <a:extLst xmlns:a="http://schemas.openxmlformats.org/drawingml/2006/main">
              <a:ext uri="{FF2B5EF4-FFF2-40B4-BE49-F238E27FC236}">
                <a16:creationId xmlns:a16="http://schemas.microsoft.com/office/drawing/2014/main" id="{2EF8715A-BA50-4ECF-9537-40DEC94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分析模型一致性检查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TextBox 3">
            <a:extLst xmlns:a="http://schemas.openxmlformats.org/drawingml/2006/main">
              <a:ext uri="{FF2B5EF4-FFF2-40B4-BE49-F238E27FC236}">
                <a16:creationId xmlns:a16="http://schemas.microsoft.com/office/drawing/2014/main" id="{E93D17C1-5E4F-4D43-9B7D-83FD1AEF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4">
            <a:extLst xmlns:a="http://schemas.openxmlformats.org/drawingml/2006/main">
              <a:ext uri="{FF2B5EF4-FFF2-40B4-BE49-F238E27FC236}">
                <a16:creationId xmlns:a16="http://schemas.microsoft.com/office/drawing/2014/main" id="{491CB893-717B-446E-AB34-284C79F6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TextBox 5">
            <a:extLst xmlns:a="http://schemas.openxmlformats.org/drawingml/2006/main">
              <a:ext uri="{FF2B5EF4-FFF2-40B4-BE49-F238E27FC236}">
                <a16:creationId xmlns:a16="http://schemas.microsoft.com/office/drawing/2014/main" id="{565C1548-30C5-4D96-A7E4-17779300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44000"/>
            <a:ext cx="13319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对象、类图、时序图与 SRS、用例图、活动图、状态图逐条对齐，四条判据与一条可追溯要求。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extBox 6">
            <a:extLst xmlns:a="http://schemas.openxmlformats.org/drawingml/2006/main">
              <a:ext uri="{FF2B5EF4-FFF2-40B4-BE49-F238E27FC236}">
                <a16:creationId xmlns:a16="http://schemas.microsoft.com/office/drawing/2014/main" id="{C756E716-2AA4-44D2-9A40-948FAA08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024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对象—类　全覆盖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7">
            <a:extLst xmlns:a="http://schemas.openxmlformats.org/drawingml/2006/main">
              <a:ext uri="{FF2B5EF4-FFF2-40B4-BE49-F238E27FC236}">
                <a16:creationId xmlns:a16="http://schemas.microsoft.com/office/drawing/2014/main" id="{38AB701B-91B0-4329-B644-6B207556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024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18 个业务对象一一落为 18 个类；无孤立类，无只出现在清单里而未建模的对象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Box 8">
            <a:extLst xmlns:a="http://schemas.openxmlformats.org/drawingml/2006/main">
              <a:ext uri="{FF2B5EF4-FFF2-40B4-BE49-F238E27FC236}">
                <a16:creationId xmlns:a16="http://schemas.microsoft.com/office/drawing/2014/main" id="{34E3A906-275D-47AA-B774-653AF08D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870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关系—多重度　一致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9">
            <a:extLst xmlns:a="http://schemas.openxmlformats.org/drawingml/2006/main">
              <a:ext uri="{FF2B5EF4-FFF2-40B4-BE49-F238E27FC236}">
                <a16:creationId xmlns:a16="http://schemas.microsoft.com/office/drawing/2014/main" id="{D3A5182A-4908-45AD-8668-6D92B0D9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870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多重度与用例图「谁能对谁做什么」一致：提交人不因申请获得授权，成果端来源为 0..1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extBox 10">
            <a:extLst xmlns:a="http://schemas.openxmlformats.org/drawingml/2006/main">
              <a:ext uri="{FF2B5EF4-FFF2-40B4-BE49-F238E27FC236}">
                <a16:creationId xmlns:a16="http://schemas.microsoft.com/office/drawing/2014/main" id="{80D5490C-A8C2-430E-8CBC-B131366A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716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状态—枚举　对齐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11">
            <a:extLst xmlns:a="http://schemas.openxmlformats.org/drawingml/2006/main">
              <a:ext uri="{FF2B5EF4-FFF2-40B4-BE49-F238E27FC236}">
                <a16:creationId xmlns:a16="http://schemas.microsoft.com/office/drawing/2014/main" id="{C1D2F1FE-1194-4876-B0B4-2740FB4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4716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类上状态属性等于状态图状态集合：认领申请六态、参与关系五态、采集任务六态、成果三态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extBox 12">
            <a:extLst xmlns:a="http://schemas.openxmlformats.org/drawingml/2006/main">
              <a:ext uri="{FF2B5EF4-FFF2-40B4-BE49-F238E27FC236}">
                <a16:creationId xmlns:a16="http://schemas.microsoft.com/office/drawing/2014/main" id="{D831D31A-00C0-46A0-B7BA-215AE0A5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562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消息—动作　对齐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AB22FB-EBE7-4184-B988-99B8945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5562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时序图消息序列等于活动图动作序列；终止出口一一对应，检索四类结果各有独立分支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Box 14">
            <a:extLst xmlns:a="http://schemas.openxmlformats.org/drawingml/2006/main">
              <a:ext uri="{FF2B5EF4-FFF2-40B4-BE49-F238E27FC236}">
                <a16:creationId xmlns:a16="http://schemas.microsoft.com/office/drawing/2014/main" id="{CAADADDD-D8F3-488D-99D7-44B3AC8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408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需求—模型　可追溯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F2D4E5-98D8-4979-ABEA-6B2660E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6408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每条功能需求可追到类、流程与状态；改一处同步三处，不出现只在文档里存在的需求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7F3500-C892-46C5-8255-14D1D27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7056000"/>
            <a:ext cx="1331964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判据只有一条：同一业务规则在四处模型中的表述必须同义；名称相同而语义不同，一律视为不一致。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3345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TextBox 1">
            <a:extLst xmlns:a="http://schemas.openxmlformats.org/drawingml/2006/main">
              <a:ext uri="{FF2B5EF4-FFF2-40B4-BE49-F238E27FC236}">
                <a16:creationId xmlns:a16="http://schemas.microsoft.com/office/drawing/2014/main" id="{C84E8A85-C653-42D7-AAF4-A504A82A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08  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结论与后续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Box 2">
            <a:extLst xmlns:a="http://schemas.openxmlformats.org/drawingml/2006/main">
              <a:ext uri="{FF2B5EF4-FFF2-40B4-BE49-F238E27FC236}">
                <a16:creationId xmlns:a16="http://schemas.microsoft.com/office/drawing/2014/main" id="{A6F576B0-2FF7-42B8-98DC-966B40C6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需求分析结论与后续设计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TextBox 3">
            <a:extLst xmlns:a="http://schemas.openxmlformats.org/drawingml/2006/main">
              <a:ext uri="{FF2B5EF4-FFF2-40B4-BE49-F238E27FC236}">
                <a16:creationId xmlns:a16="http://schemas.microsoft.com/office/drawing/2014/main" id="{939858A5-28E9-46FD-B104-39F2ACD0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Box 4">
            <a:extLst xmlns:a="http://schemas.openxmlformats.org/drawingml/2006/main">
              <a:ext uri="{FF2B5EF4-FFF2-40B4-BE49-F238E27FC236}">
                <a16:creationId xmlns:a16="http://schemas.microsoft.com/office/drawing/2014/main" id="{2DF7B9FA-E07D-45C2-A6DD-B29287E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BF72-0462-4A61-A6D0-0025D058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2016000"/>
            <a:ext cx="4391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已确定的模型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049A7-5914-4708-BE0B-12D22652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2700000"/>
            <a:ext cx="4391640" cy="193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18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类业务对象、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15 </a:t>
            </a: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条编号关系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账号、个人主页、学者档案分离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申请、证据、授权分离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成果、来源、版本、更新分离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三条流程的校验顺序与终止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TextBox 7">
            <a:extLst xmlns:a="http://schemas.openxmlformats.org/drawingml/2006/main">
              <a:ext uri="{FF2B5EF4-FFF2-40B4-BE49-F238E27FC236}">
                <a16:creationId xmlns:a16="http://schemas.microsoft.com/office/drawing/2014/main" id="{57F768FD-5565-4D4E-8F03-5597789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0" y="2016000"/>
            <a:ext cx="4391640" cy="3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23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对后续设计的约束</a:t>
            </a:r>
            <a:endParaRPr sz="2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Box 8">
            <a:extLst xmlns:a="http://schemas.openxmlformats.org/drawingml/2006/main">
              <a:ext uri="{FF2B5EF4-FFF2-40B4-BE49-F238E27FC236}">
                <a16:creationId xmlns:a16="http://schemas.microsoft.com/office/drawing/2014/main" id="{AF0313B2-4AA7-4D6D-BC26-AA93E04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0" y="2700000"/>
            <a:ext cx="4391640" cy="193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学者与成果多对多，由关联实体承载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来源记录对成果归属可空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更新记录独立留存，不级联删除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认领证据按可见范围控制访问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1400"/>
              </a:spcAft>
              <a:buNone/>
            </a:pPr>
            <a:r>
              <a:rPr sz="16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检索区分四类结果与稳定分页</a:t>
            </a:r>
            <a:endParaRPr sz="16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9001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TextBox 1">
            <a:extLst xmlns:a="http://schemas.openxmlformats.org/drawingml/2006/main">
              <a:ext uri="{FF2B5EF4-FFF2-40B4-BE49-F238E27FC236}">
                <a16:creationId xmlns:a16="http://schemas.microsoft.com/office/drawing/2014/main" id="{40522B65-4454-4A38-A8E6-8E17E4BD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273600"/>
            <a:ext cx="12779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09  /  </a:t>
            </a:r>
            <a:r>
              <a:rPr sz="12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AI 使用声明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2">
            <a:extLst xmlns:a="http://schemas.openxmlformats.org/drawingml/2006/main">
              <a:ext uri="{FF2B5EF4-FFF2-40B4-BE49-F238E27FC236}">
                <a16:creationId xmlns:a16="http://schemas.microsoft.com/office/drawing/2014/main" id="{0BB9F292-A00D-41D2-A208-2CB1F02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867600"/>
            <a:ext cx="13427640" cy="4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32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AI 使用情况与人工验证</a:t>
            </a:r>
            <a:endParaRPr sz="3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TextBox 3">
            <a:extLst xmlns:a="http://schemas.openxmlformats.org/drawingml/2006/main">
              <a:ext uri="{FF2B5EF4-FFF2-40B4-BE49-F238E27FC236}">
                <a16:creationId xmlns:a16="http://schemas.microsoft.com/office/drawing/2014/main" id="{2F9425C5-7E9A-435A-A177-C1B0B6E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00" y="7754400"/>
            <a:ext cx="1079964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联合项目　学术成果分享平台　需求分析汇报</a:t>
            </a:r>
            <a:endParaRPr sz="1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4">
            <a:extLst xmlns:a="http://schemas.openxmlformats.org/drawingml/2006/main">
              <a:ext uri="{FF2B5EF4-FFF2-40B4-BE49-F238E27FC236}">
                <a16:creationId xmlns:a16="http://schemas.microsoft.com/office/drawing/2014/main" id="{CC8B2AD1-C10A-4789-B9A7-7DC86A9A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000" y="7725600"/>
            <a:ext cx="935640" cy="18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1" strike="noStrike" spc="-1">
                <a:solidFill>
                  <a:srgbClr val="B37B3E"/>
                </a:solidFill>
                <a:latin typeface="Noto Sans CJK SC"/>
                <a:ea typeface="Noto Sans CJK SC"/>
                <a:cs typeface="Noto Sans CJK SC"/>
              </a:rPr>
              <a:t>18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TextBox 5">
            <a:extLst xmlns:a="http://schemas.openxmlformats.org/drawingml/2006/main">
              <a:ext uri="{FF2B5EF4-FFF2-40B4-BE49-F238E27FC236}">
                <a16:creationId xmlns:a16="http://schemas.microsoft.com/office/drawing/2014/main" id="{16C89529-61AB-403C-A226-035DC74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1944000"/>
            <a:ext cx="13319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356451"/>
                </a:solidFill>
                <a:latin typeface="Noto Sans CJK SC"/>
                <a:ea typeface="Noto Sans CJK SC"/>
                <a:cs typeface="Noto Sans CJK SC"/>
              </a:rPr>
              <a:t>按课程 AI 使用政策「声明、理解、责任」，说明本阶段的使用环节、生成内容与人工验证方式。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extBox 6">
            <a:extLst xmlns:a="http://schemas.openxmlformats.org/drawingml/2006/main">
              <a:ext uri="{FF2B5EF4-FFF2-40B4-BE49-F238E27FC236}">
                <a16:creationId xmlns:a16="http://schemas.microsoft.com/office/drawing/2014/main" id="{82B99FB8-0D6C-4CAD-B641-A7C8D294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024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使用环节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7">
            <a:extLst xmlns:a="http://schemas.openxmlformats.org/drawingml/2006/main">
              <a:ext uri="{FF2B5EF4-FFF2-40B4-BE49-F238E27FC236}">
                <a16:creationId xmlns:a16="http://schemas.microsoft.com/office/drawing/2014/main" id="{F8CE2EEA-22CE-4369-AD96-10D50538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024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对象清单归并讨论、类图初稿、时序图消息序列梳理、文档与 PPT 措辞；不用于确定业务规则本身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TextBox 8">
            <a:extLst xmlns:a="http://schemas.openxmlformats.org/drawingml/2006/main">
              <a:ext uri="{FF2B5EF4-FFF2-40B4-BE49-F238E27FC236}">
                <a16:creationId xmlns:a16="http://schemas.microsoft.com/office/drawing/2014/main" id="{1C9D1C66-7661-4327-A9B0-4E90F7C4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3870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生成内容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9">
            <a:extLst xmlns:a="http://schemas.openxmlformats.org/drawingml/2006/main">
              <a:ext uri="{FF2B5EF4-FFF2-40B4-BE49-F238E27FC236}">
                <a16:creationId xmlns:a16="http://schemas.microsoft.com/office/drawing/2014/main" id="{934688B0-6279-47E3-8BC7-76AE9B7E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3870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候选对象与分组、关系多重度初稿、消息编号与措辞；一律作初稿，不直接进入交付物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9E760A-B3EA-4229-980B-E9734E2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4716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人工验证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4C71B9-3CBF-46A3-84E9-DACAC51D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4716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逐条对照调研记录与 SRS 核对；模型在 CodeArts Modeling 中重绘并人工校对方向与多重度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TextBox 12">
            <a:extLst xmlns:a="http://schemas.openxmlformats.org/drawingml/2006/main">
              <a:ext uri="{FF2B5EF4-FFF2-40B4-BE49-F238E27FC236}">
                <a16:creationId xmlns:a16="http://schemas.microsoft.com/office/drawing/2014/main" id="{FD092ECF-3039-4079-B0BC-3EBD31FE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5562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责任边界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13">
            <a:extLst xmlns:a="http://schemas.openxmlformats.org/drawingml/2006/main">
              <a:ext uri="{FF2B5EF4-FFF2-40B4-BE49-F238E27FC236}">
                <a16:creationId xmlns:a16="http://schemas.microsoft.com/office/drawing/2014/main" id="{C0C50570-A390-43F9-BF1B-0B48FBD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5562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身份认定、权限授予、来源可信的判断全部由人作出；AI 不接触真实数据与统计数据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6725F4-D945-4238-B3B5-C14F52A8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6408000"/>
            <a:ext cx="3095640" cy="27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800" b="1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结论归属</a:t>
            </a: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15">
            <a:extLst xmlns:a="http://schemas.openxmlformats.org/drawingml/2006/main">
              <a:ext uri="{FF2B5EF4-FFF2-40B4-BE49-F238E27FC236}">
                <a16:creationId xmlns:a16="http://schemas.microsoft.com/office/drawing/2014/main" id="{04DA806E-9FF5-44D8-A0C4-A5B7B142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000" y="6408000"/>
            <a:ext cx="9863640" cy="25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10000"/>
              </a:lnSpc>
              <a:buNone/>
            </a:pPr>
            <a:r>
              <a:rPr sz="1500" b="0" strike="noStrike" spc="-1">
                <a:solidFill>
                  <a:srgbClr val="252C29"/>
                </a:solidFill>
                <a:latin typeface="Noto Sans CJK SC"/>
                <a:ea typeface="Noto Sans CJK SC"/>
                <a:cs typeface="Noto Sans CJK SC"/>
              </a:rPr>
              <a:t>所有结论由团队成员负责；AI 只提供候选与检查清单，不作为依据引用</a:t>
            </a:r>
            <a:endParaRPr sz="15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744927-D9D1-4BB6-9A38-AC5C1530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00" y="7056000"/>
            <a:ext cx="1331964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defTabSz="457200">
              <a:lnSpc>
                <a:spcPct val="100000"/>
              </a:lnSpc>
              <a:buNone/>
            </a:pPr>
            <a:r>
              <a:rPr sz="1300" b="0" strike="noStrike" spc="-1">
                <a:solidFill>
                  <a:srgbClr val="646C65"/>
                </a:solidFill>
                <a:latin typeface="Noto Sans CJK SC"/>
                <a:ea typeface="Noto Sans CJK SC"/>
                <a:cs typeface="Noto Sans CJK SC"/>
              </a:rPr>
              <a:t>完整使用记录与验证证据按课程格式随终稿提交；未经人工验证的生成内容不作为成果展示。</a:t>
            </a:r>
            <a:endParaRPr sz="13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02459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2026-10-26T15:56:32.0090000Z</dcterms:created>
  <dcterms:modified xsi:type="dcterms:W3CDTF">2026-10-26T15:56:32.0090000Z</dcterms:modified>
</coreProperties>
</file>