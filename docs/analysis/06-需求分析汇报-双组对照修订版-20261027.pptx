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0" r:id="rId7"/>
    <p:sldMasterId id="2147483662" r:id="rId8"/>
    <p:sldMasterId id="2147483664" r:id="rId9"/>
    <p:sldMasterId id="2147483666" r:id="rId10"/>
    <p:sldMasterId id="2147483668" r:id="rId11"/>
  </p:sldMasterIdLst>
  <p:notesMasterIdLst>
    <p:notesMasterId r:id="rId28"/>
  </p:notesMasterIdLst>
  <p:sldIdLst>
    <p:sldId id="256" r:id="rId12"/>
    <p:sldId id="257" r:id="rId13"/>
    <p:sldId id="258" r:id="rId14"/>
    <p:sldId id="259" r:id="rId15"/>
    <p:sldId id="27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2" r:id="rId25"/>
    <p:sldId id="273" r:id="rId26"/>
    <p:sldId id="270" r:id="rId27"/>
  </p:sldIdLst>
  <p:sldSz cx="14630400" cy="8229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7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5735264F-C7F9-4577-943C-3B6191263A23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开场约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25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秒：第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03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组“可御风雪可燃冰”由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CognitaNexus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与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OvO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两组共同完成。说明五名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OvO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成员的实际建模分工；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CognitaNexus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成员名单与个人分工以该组材料为准。本次依次比较业务对象、核心类图与采集、认领、检索三条时序图，最后说明一致性和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AI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使用。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约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165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秒。按四组讲，不逐条念：先讲身份与认领授权六类，强调账号、个人主页、学者档案是三个对象；再讲成果的“一个父类＋四个子类”；第三组讲参与关系为什么单独成类；第四组讲来源、版本、更新与采集任务。最后用一句话收：识别标准是独立身份与状态、需长期保留的业务证据、被多个用例反复读取，三者缺一不列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约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80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秒。先指图说明分组：左侧身份与认领、中部成果与类型、右侧分类与出处。讲三点：账号不等于学者档案；成果是去重后的唯一实体；来源与版本挂在外围，不增加成果数量。图下方为用户图与说明，讲完不逐类念，留给下一页展开关系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约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80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秒。先指图说明分组：左侧身份与认领、中部成果与类型、右侧分类与出处。讲三点：账号不等于学者档案；成果是去重后的唯一实体；来源与版本挂在外围，不增加成果数量。图下方为用户图与说明，讲完不逐类念，留给下一页展开关系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约 </a:t>
            </a:r>
            <a:r>
              <a:rPr lang="en-US" altLang="zh-CN" smtClean="0"/>
              <a:t>45 </a:t>
            </a:r>
            <a:r>
              <a:rPr lang="zh-CN" altLang="en-US" smtClean="0"/>
              <a:t>秒。指向 </a:t>
            </a:r>
            <a:r>
              <a:rPr lang="en-US" altLang="zh-CN" smtClean="0"/>
              <a:t>OvO </a:t>
            </a:r>
            <a:r>
              <a:rPr lang="zh-CN" altLang="en-US" smtClean="0"/>
              <a:t>类图的业务主干：账号、申请、成果、学者关系、来源与采集。对照 </a:t>
            </a:r>
            <a:r>
              <a:rPr lang="en-US" altLang="zh-CN" smtClean="0"/>
              <a:t>CognitaNexus </a:t>
            </a:r>
            <a:r>
              <a:rPr lang="zh-CN" altLang="en-US" smtClean="0"/>
              <a:t>类图对主页、证据、授权和版本的细分。强调两组对共同业务边界的表达互补，申请获批前不得产生门户授权。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5735264F-C7F9-4577-943C-3B6191263A23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285375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约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70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秒。重点讲三处：第一，学者与成果两端都是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0..*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，角色、署名顺序与状态由关联类承载，端点写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1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就无法表达共同成果；第二，来源记录对成果是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0..1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聚合，因为采集时来源先到、成果后建；第三，更新记录用普通关联，审计要留存，不能用组合。其余关系一句带过。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约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60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秒。讲“一个父类、四个子类”的理由：四类成果的去重键不同（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DOI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、申请号＋辖区、项目编号、奖项名称＋年度），混在单一类里容易把某一类型的键用到另一类型；反过来拆成四套独立模型会复制参与关系与出处记录。逐行点出去重键即可，不必念字段。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约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55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秒。左图讲前半段：管理员经采集界面到协调者，校验账号权限与来源许可后建任务并启动，按快照分批取回，逐条登记来源证据后交治理，结果写回任务。右图讲后半段：批次结束核对计划输入与已处置、异常计数，核对不过判失败；管理员可停止或从检查点重试。强调两点：拒绝与失败必须终止；成功只表示处置完成，不表示已公开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约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45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秒。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OvO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图按许可检查、创建任务、分批采集、清洗校验、结果汇总和停止重试组织。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CognitaNexus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进一步细化批次与去重。说明该图目前以仓库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XMI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和本地预览展示，正式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CodeArts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同版本导出图仍待补齐。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约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55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秒。左图：申请人选择已收录的学者档案并提交证据；未登录或目标不可认领即拒绝；缺证据转“待补充”，齐备转“待审核”，同时记录竞争事实。右图：审核者先校验权限与状态版本，通过后才读私有材料；理由缺失不改状态，补证转待补充，冲突转争议，无冲突则批准，批准按建授权、置通过、写审计三段执行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约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45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秒。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OvO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将认领申请分为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A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申请与结果跟踪、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B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审核与补证循环；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CognitaNexus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用一张端到端时序图表示。共同规则是申请状态和授权分离；补证不等于批准；冲突不覆盖既有授权。完整图在随附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CodeArts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源文件中可放大。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约 </a:t>
            </a: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55 </a:t>
            </a:r>
            <a:r>
              <a:rPr lang="zh-CN" sz="2000" b="0" strike="noStrike" spc="-1">
                <a:solidFill>
                  <a:srgbClr val="000000"/>
                </a:solidFill>
                <a:latin typeface="Arial"/>
              </a:rPr>
              <a:t>秒。左图：访客提交关键词、范围、筛选、排序与页码；条件非法即终止并指出字段；合法则固定查询上下文，成果与学者范围互斥查询。右图：失败与空结果分开处理，公开过滤与排序后再判有无匹配；有匹配返回当前页、总数与来源摘要，下一页复用同一上下文与排序键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约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40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秒。指出条件非法、依赖失败、无匹配和有匹配四类返回语义不能混淆。两组都强调公开权限过滤。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OvO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聚焦参数与结果分支，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CognitaNexus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展开来源摘要和稳定分页。完整时序图保留在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CodeArts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导出文件。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约 </a:t>
            </a:r>
            <a:r>
              <a:rPr lang="en-US" altLang="zh-CN" smtClean="0"/>
              <a:t>40 </a:t>
            </a:r>
            <a:r>
              <a:rPr lang="zh-CN" altLang="en-US" smtClean="0"/>
              <a:t>秒。直接比较两组建模侧重，不比较篇幅。</a:t>
            </a:r>
            <a:r>
              <a:rPr lang="en-US" altLang="zh-CN" smtClean="0"/>
              <a:t>CognitaNexus </a:t>
            </a:r>
            <a:r>
              <a:rPr lang="zh-CN" altLang="en-US" smtClean="0"/>
              <a:t>强在规则证据和细分边界，</a:t>
            </a:r>
            <a:r>
              <a:rPr lang="en-US" altLang="zh-CN" smtClean="0"/>
              <a:t>OvO </a:t>
            </a:r>
            <a:r>
              <a:rPr lang="zh-CN" altLang="en-US" smtClean="0"/>
              <a:t>强在参与者和三条可观察主流程。两组共同使用 </a:t>
            </a:r>
            <a:r>
              <a:rPr lang="en-US" altLang="zh-CN" smtClean="0"/>
              <a:t>SRS </a:t>
            </a:r>
            <a:r>
              <a:rPr lang="zh-CN" altLang="en-US" smtClean="0"/>
              <a:t>和先前需求模型来判定对象、状态、权限含义是否一致。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5735264F-C7F9-4577-943C-3B6191263A23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14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073657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0" y="812800"/>
            <a:ext cx="0" cy="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mtClean="0"/>
              <a:t>约 </a:t>
            </a:r>
            <a:r>
              <a:rPr lang="en-US" altLang="zh-CN" smtClean="0"/>
              <a:t>40 </a:t>
            </a:r>
            <a:r>
              <a:rPr lang="zh-CN" altLang="en-US" smtClean="0"/>
              <a:t>秒。按课程要求说明声明、理解和责任。</a:t>
            </a:r>
            <a:r>
              <a:rPr lang="en-US" altLang="zh-CN" smtClean="0"/>
              <a:t>AI </a:t>
            </a:r>
            <a:r>
              <a:rPr lang="zh-CN" altLang="en-US" smtClean="0"/>
              <a:t>参与对象梳理、图源初稿、文档和一致性检查；成员必须解释关系、多重度和异常分支，最终提交由人负责。两组各自的具体模型使用与效果对照以本人签认记录为准，不把未确认的个人使用情况写成事实。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indent="0" algn="r">
              <a:buNone/>
            </a:pPr>
            <a:fld id="{5735264F-C7F9-4577-943C-3B6191263A23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15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869094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约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30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秒。联合建模已明确核心对象、类图和三条时序图的业务边界。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CognitaNexus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的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18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类对象与约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20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条关系是该组统计，不代表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OvO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的数量。后续仍需核对类图、流程图与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SRS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一致，并完成采集时序图的同版本 </a:t>
            </a:r>
            <a:r>
              <a:rPr lang="en-US" altLang="zh-CN" sz="2000" b="0" strike="noStrike" spc="-1" smtClean="0">
                <a:solidFill>
                  <a:srgbClr val="000000"/>
                </a:solidFill>
                <a:latin typeface="Arial"/>
              </a:rPr>
              <a:t>CodeArts </a:t>
            </a:r>
            <a:r>
              <a:rPr lang="zh-CN" altLang="en-US" sz="2000" b="0" strike="noStrike" spc="-1" smtClean="0">
                <a:solidFill>
                  <a:srgbClr val="000000"/>
                </a:solidFill>
                <a:latin typeface="Arial"/>
              </a:rPr>
              <a:t>正式导出。</a:t>
            </a:r>
            <a:endParaRPr lang="en-US" sz="2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ED424F4-5B35-4AEF-8DE5-177F67FD909D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0D08824C-6DF5-401F-9C2E-0F79738A3D7E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fld id="{1B6F6165-B69D-41DF-AE46-86C415294A7C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20CA608-1861-4770-B171-25A5A3111125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lstStyle/>
          <a:p>
            <a:fld id="{BC078406-70DE-4BEC-925A-DE04C28EA03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73152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7478280" y="1925640"/>
            <a:ext cx="642528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lstStyle/>
          <a:p>
            <a:fld id="{AF0CFEED-CFCB-429A-A8AC-F872A80B0D2E}" type="slidenum"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lstStyle/>
          <a:p>
            <a:fld id="{CEEB3349-18FC-4236-A57E-8FEE6F1182F1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n-US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lstStyle/>
          <a:p>
            <a:fld id="{2710C1A3-C70F-4535-993F-89E8963EB281}" type="slidenum"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lstStyle/>
          <a:p>
            <a:fld id="{F63C9038-C097-4BA3-A804-D66702F9BE6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BAC99602-4C5E-4926-8A9A-E42B8F6D7CE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lstStyle/>
          <a:p>
            <a:fld id="{026591BC-689E-4530-AE6F-2A1468AF20DB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5BAD31-00CD-4007-A4F6-F5993050320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E7FFCAB-FC0E-4729-BFAB-C57C6276240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B6564A-D006-4104-AC24-632370D14EF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3F1791-0ABA-4BA7-BCB4-04264E23227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strike="noStrike" cap="all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4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DAE54F0-F9A5-41E3-BECC-23E927642623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1BED5B9-D5FC-4B0D-9FDF-66D893FA5BE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  <a:endParaRPr lang="en-US" sz="2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B3FFAC-472F-418D-98D8-09E131E45DAE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14D4826-A5C9-444E-9E47-45D212AC7465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42680F-70B2-4431-A8E7-4827F23C27CA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>
                <a:solidFill>
                  <a:schemeClr val="dk1"/>
                </a:solidFill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CA8926-EC28-4B93-86FB-94CD43239171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strike="noStrike" spc="-1">
                <a:solidFill>
                  <a:schemeClr val="dk1"/>
                </a:solidFill>
                <a:latin typeface="Calibri"/>
              </a:rPr>
              <a:t>Click to edit Master title style</a:t>
            </a:r>
            <a:endParaRPr lang="en-US" sz="20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strike="noStrike" spc="-1">
                <a:solidFill>
                  <a:schemeClr val="dk1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1367F79-EB5C-411A-A3C5-85ADA9BDCC28}" type="slidenum">
              <a:rPr lang="en-US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12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软件系统分析与设计  </a:t>
            </a:r>
            <a:r>
              <a:rPr lang="en-US" sz="12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/  </a:t>
            </a:r>
            <a:r>
              <a:rPr lang="zh-CN" sz="12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作业 </a:t>
            </a:r>
            <a:r>
              <a:rPr lang="en-US" sz="12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3 · </a:t>
            </a:r>
            <a:r>
              <a:rPr lang="zh-CN" sz="12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需求分析成果汇报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学术成果分享平台需求分析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730800" y="2055600"/>
            <a:ext cx="10799640" cy="128240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h-CN" altLang="en-US" sz="4000" b="1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学术成果分享平台</a:t>
            </a: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altLang="zh-CN" sz="4000" b="1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CognitaNexus × OvO</a:t>
            </a:r>
            <a:endParaRPr lang="en-US" sz="4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4"/>
          <p:cNvSpPr/>
          <p:nvPr/>
        </p:nvSpPr>
        <p:spPr>
          <a:xfrm>
            <a:off x="730800" y="3841200"/>
            <a:ext cx="11879640" cy="59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论文 </a:t>
            </a:r>
            <a:r>
              <a:rPr lang="en-US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· </a:t>
            </a: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专利 </a:t>
            </a:r>
            <a:r>
              <a:rPr lang="en-US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· </a:t>
            </a: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科研项目 </a:t>
            </a:r>
            <a:r>
              <a:rPr lang="en-US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· </a:t>
            </a: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获奖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业务对象 </a:t>
            </a:r>
            <a:r>
              <a:rPr lang="en-US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· </a:t>
            </a: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核心业务类图 </a:t>
            </a:r>
            <a:r>
              <a:rPr lang="en-US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· </a:t>
            </a: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三条关键业务流程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5"/>
          <p:cNvSpPr/>
          <p:nvPr/>
        </p:nvSpPr>
        <p:spPr>
          <a:xfrm>
            <a:off x="730800" y="5576400"/>
            <a:ext cx="12779640" cy="11079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altLang="en-US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第 </a:t>
            </a:r>
            <a:r>
              <a:rPr lang="en-US" altLang="zh-CN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03 </a:t>
            </a:r>
            <a:r>
              <a:rPr lang="zh-CN" altLang="en-US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组  </a:t>
            </a:r>
            <a:r>
              <a:rPr lang="en-US" altLang="zh-CN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可御风雪可燃冰</a:t>
            </a: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altLang="zh-CN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OvO</a:t>
            </a:r>
            <a:r>
              <a:rPr lang="zh-CN" altLang="en-US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：高昕宇（对象识别与报告）  王昊涵（类图）  宋显涵（采集时序）</a:t>
            </a: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altLang="en-US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　　 李昊阳（认领时序）  孙子涵（检索时序与展示）</a:t>
            </a: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altLang="zh-CN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CognitaNexus</a:t>
            </a:r>
            <a:r>
              <a:rPr lang="zh-CN" altLang="en-US" sz="13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：业务规则细化与模型交叉验证（成员分工见该组材料）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6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联合项目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7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01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01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业务对象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联合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核心业务对象识别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730800" y="1918800"/>
            <a:ext cx="6227640" cy="35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身份与认领授权 </a:t>
            </a:r>
            <a:r>
              <a:rPr lang="en-US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· 6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730800" y="2548800"/>
            <a:ext cx="6227640" cy="100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账号、个人主页、学者档案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认领申请、认领证据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门户授权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7"/>
          <p:cNvSpPr/>
          <p:nvPr/>
        </p:nvSpPr>
        <p:spPr>
          <a:xfrm>
            <a:off x="7498800" y="1918800"/>
            <a:ext cx="6227640" cy="35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学术成果与类型 </a:t>
            </a:r>
            <a:r>
              <a:rPr lang="en-US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· 5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8"/>
          <p:cNvSpPr/>
          <p:nvPr/>
        </p:nvSpPr>
        <p:spPr>
          <a:xfrm>
            <a:off x="7498800" y="2548800"/>
            <a:ext cx="6227640" cy="100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学术成果（抽象父类）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论文、专利、科研项目、获奖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专属字段与去重键在子类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9"/>
          <p:cNvSpPr/>
          <p:nvPr/>
        </p:nvSpPr>
        <p:spPr>
          <a:xfrm>
            <a:off x="730800" y="4536000"/>
            <a:ext cx="6227640" cy="35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参与关系与分类 </a:t>
            </a:r>
            <a:r>
              <a:rPr lang="en-US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· 3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730800" y="5166000"/>
            <a:ext cx="62276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成果参与关系（角色、顺序、状态）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机构、学术领域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1"/>
          <p:cNvSpPr/>
          <p:nvPr/>
        </p:nvSpPr>
        <p:spPr>
          <a:xfrm>
            <a:off x="7498800" y="4536000"/>
            <a:ext cx="6227640" cy="35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出处与变化 </a:t>
            </a:r>
            <a:r>
              <a:rPr lang="en-US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· 4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7498800" y="5166000"/>
            <a:ext cx="6227640" cy="63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来源记录、版本证据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zh-CN" sz="18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更新记录、采集任务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594000" y="7056000"/>
            <a:ext cx="133196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识别标准：具有独立身份与状态；承担需长期保留的业务证据；被两个以上用例反复读取。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14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联合项目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5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02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02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核心业务类图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CognitaNexus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核心业务类图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9" name="Picture 5" descr="UNI-CLASS-01-core-business.png"/>
          <p:cNvPicPr/>
          <p:nvPr/>
        </p:nvPicPr>
        <p:blipFill>
          <a:blip r:embed="rId3"/>
          <a:stretch/>
        </p:blipFill>
        <p:spPr>
          <a:xfrm>
            <a:off x="576000" y="1800000"/>
            <a:ext cx="5091480" cy="5831640"/>
          </a:xfrm>
          <a:prstGeom prst="rect">
            <a:avLst/>
          </a:prstGeom>
          <a:ln w="0">
            <a:noFill/>
          </a:ln>
        </p:spPr>
      </p:pic>
      <p:sp>
        <p:nvSpPr>
          <p:cNvPr id="100" name="TextBox 6"/>
          <p:cNvSpPr/>
          <p:nvPr/>
        </p:nvSpPr>
        <p:spPr>
          <a:xfrm>
            <a:off x="6192000" y="1944000"/>
            <a:ext cx="8135640" cy="286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5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按四组组织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① 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身份与认领授权：账号、个人主页、学者档案、认领申请、认领证据、门户授权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② 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学术成果与类型：抽象父类＋论文、专利、科研项目、获奖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③ 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参与关系与分类：成果参与关系（关联类）、机构、学术领域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④ 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出处与变化：来源记录、版本证据、更新记录、采集任务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关键基数：学者—成果两端 </a:t>
            </a: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0..*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；来源记录对成果 </a:t>
            </a: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0..1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；更新记录对成果 </a:t>
            </a: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1—0..*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。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状态集合：认领申请六态、参与关系五态、采集任务六态、成果三种公开状态。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endParaRPr lang="en-US" sz="8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zh-CN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属性为业务信息，操作为业务职责；不含界面、控制、服务、仓储与部署元素。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CognitaNexus  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8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03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28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02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类图局部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</a:t>
            </a:r>
            <a:r>
              <a:rPr 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CognitaNexus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3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CognitaNexus  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34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04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图片 107"/>
          <p:cNvPicPr/>
          <p:nvPr/>
        </p:nvPicPr>
        <p:blipFill>
          <a:blip r:embed="rId3"/>
          <a:stretch/>
        </p:blipFill>
        <p:spPr>
          <a:xfrm>
            <a:off x="1905480" y="1651000"/>
            <a:ext cx="10371240" cy="4978400"/>
          </a:xfrm>
          <a:prstGeom prst="rect">
            <a:avLst/>
          </a:prstGeom>
          <a:ln w="0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09600" y="901700"/>
            <a:ext cx="12319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28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身份与认领授权（类图局部放大）</a:t>
            </a:r>
            <a:endParaRPr lang="zh-CN" altLang="en-US" sz="28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5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228600"/>
            <a:ext cx="1003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02  /  </a:t>
            </a:r>
            <a:r>
              <a:rPr lang="zh-CN" altLang="en-US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核心业务类图 </a:t>
            </a:r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· OvO</a:t>
            </a:r>
            <a:endParaRPr lang="zh-CN" altLang="en-US" sz="1200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914400"/>
            <a:ext cx="1333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 </a:t>
            </a:r>
            <a:r>
              <a:rPr lang="zh-CN" altLang="en-US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类图：相同业务边界，不同关系表达</a:t>
            </a:r>
            <a:endParaRPr lang="zh-CN" altLang="en-US" sz="31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747000"/>
            <a:ext cx="1143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OvO  |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学术成果分享平台  </a:t>
            </a:r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需求分析汇报</a:t>
            </a:r>
            <a:endParaRPr lang="zh-CN" altLang="en-US" sz="1000">
              <a:solidFill>
                <a:srgbClr val="656E6A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234" y="2868789"/>
            <a:ext cx="4692531" cy="345722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8458200" y="1943100"/>
            <a:ext cx="5588000" cy="5334000"/>
          </a:xfrm>
          <a:prstGeom prst="rect">
            <a:avLst/>
          </a:prstGeom>
          <a:solidFill>
            <a:srgbClr val="FFFFFC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636000" y="2095500"/>
            <a:ext cx="523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对照 </a:t>
            </a:r>
            <a:r>
              <a:rPr lang="en-US" altLang="zh-CN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CognitaNexus</a:t>
            </a:r>
            <a:endParaRPr lang="zh-CN" altLang="en-US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636000" y="2590800"/>
            <a:ext cx="5232400" cy="207749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共同：账号、认领、成果四子类、机构、领域、来源与采集任务。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：以业务实体与状态变更为主线，强调学者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成果关系和来源历史。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CognitaNexus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：细化主页、证据、授权与版本等约束对象。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取舍：联合口径保留实体分离；权限不由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[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提交申请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]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自动获得。</a:t>
            </a:r>
            <a:endParaRPr lang="zh-CN" altLang="en-US" sz="15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855700" y="77216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AE5E16"/>
                </a:solidFill>
                <a:latin typeface="Microsoft YaHei" panose="020B0503020204020204" pitchFamily="34" charset="-122"/>
              </a:rPr>
              <a:t>05</a:t>
            </a:r>
            <a:endParaRPr lang="zh-CN" altLang="en-US" sz="1200">
              <a:solidFill>
                <a:srgbClr val="AE5E1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920855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02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类间关系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</a:t>
            </a:r>
            <a:r>
              <a:rPr 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CognitaNexus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核心类及关联关系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684000" y="2016000"/>
            <a:ext cx="6587640" cy="29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账号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 — 1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个人主页（拥有）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个人主页 — 学者档案：不建立强制关联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账号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认领申请（提出）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认领申请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0..* — 1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学者档案（认领目标）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认领申请 ◆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认领证据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账号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门户授权（被授予）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学者档案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门户授权（授权目标）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6"/>
          <p:cNvSpPr/>
          <p:nvPr/>
        </p:nvSpPr>
        <p:spPr>
          <a:xfrm>
            <a:off x="7632000" y="2016000"/>
            <a:ext cx="6479640" cy="29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学者档案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0..*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学术成果（参与，关联类：参与关系）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学术成果 ◆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版本证据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学术成果 ◇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0..1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来源记录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学术成果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更新记录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采集任务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1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来源记录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学者档案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0..*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机构、学术领域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599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学术成果 </a:t>
            </a:r>
            <a:r>
              <a:rPr lang="en-US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0..* — 0..* </a:t>
            </a: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机构、学术领域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594000" y="5508000"/>
            <a:ext cx="13319640" cy="72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en-US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◇ </a:t>
            </a:r>
            <a:r>
              <a:rPr lang="zh-CN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聚合：来源可先于成果到达，成果端为 </a:t>
            </a:r>
            <a:r>
              <a:rPr lang="en-US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0..1</a:t>
            </a:r>
            <a:r>
              <a:rPr lang="zh-CN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；◆ 组合：认领证据依附申请，版本证据依附成果。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zh-CN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更新记录与成果之间为普通关联：审计留痕按留存要求保存，不随成果删除。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99"/>
              </a:spcAft>
            </a:pPr>
            <a:r>
              <a:rPr lang="zh-CN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个人主页与学者档案之间不建立强制关联：同名不合并，主页不生成学者身份。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8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CognitaNexus  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9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06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02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成果继承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</a:t>
            </a:r>
            <a:r>
              <a:rPr 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CognitaNexus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科研成果类型及继承关系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5"/>
          <p:cNvSpPr/>
          <p:nvPr/>
        </p:nvSpPr>
        <p:spPr>
          <a:xfrm>
            <a:off x="684000" y="1980000"/>
            <a:ext cx="15116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类型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6"/>
          <p:cNvSpPr/>
          <p:nvPr/>
        </p:nvSpPr>
        <p:spPr>
          <a:xfrm>
            <a:off x="2304000" y="1980000"/>
            <a:ext cx="37436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专属字段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7"/>
          <p:cNvSpPr/>
          <p:nvPr/>
        </p:nvSpPr>
        <p:spPr>
          <a:xfrm>
            <a:off x="6264000" y="1980000"/>
            <a:ext cx="43196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去重与稳定标识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8"/>
          <p:cNvSpPr/>
          <p:nvPr/>
        </p:nvSpPr>
        <p:spPr>
          <a:xfrm>
            <a:off x="10800000" y="1980000"/>
            <a:ext cx="32396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参与角色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9"/>
          <p:cNvSpPr/>
          <p:nvPr/>
        </p:nvSpPr>
        <p:spPr>
          <a:xfrm>
            <a:off x="684000" y="2520000"/>
            <a:ext cx="15116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8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论文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0"/>
          <p:cNvSpPr/>
          <p:nvPr/>
        </p:nvSpPr>
        <p:spPr>
          <a:xfrm>
            <a:off x="2304000" y="2520000"/>
            <a:ext cx="3743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DOI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、发表载体、发表日期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Box 11"/>
          <p:cNvSpPr/>
          <p:nvPr/>
        </p:nvSpPr>
        <p:spPr>
          <a:xfrm>
            <a:off x="6264000" y="2520000"/>
            <a:ext cx="4319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DOI</a:t>
            </a: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；缺失时以标题、年份、载体作为候选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Box 12"/>
          <p:cNvSpPr/>
          <p:nvPr/>
        </p:nvSpPr>
        <p:spPr>
          <a:xfrm>
            <a:off x="10800000" y="2520000"/>
            <a:ext cx="3239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作者，按署名顺序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Box 13"/>
          <p:cNvSpPr/>
          <p:nvPr/>
        </p:nvSpPr>
        <p:spPr>
          <a:xfrm>
            <a:off x="684000" y="3438000"/>
            <a:ext cx="15116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8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专利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14"/>
          <p:cNvSpPr/>
          <p:nvPr/>
        </p:nvSpPr>
        <p:spPr>
          <a:xfrm>
            <a:off x="2304000" y="3438000"/>
            <a:ext cx="3743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申请号、辖区、申请日期、公开日期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15"/>
          <p:cNvSpPr/>
          <p:nvPr/>
        </p:nvSpPr>
        <p:spPr>
          <a:xfrm>
            <a:off x="6264000" y="3438000"/>
            <a:ext cx="4319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申请号＋辖区；辖区未知不构成稳定键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Box 16"/>
          <p:cNvSpPr/>
          <p:nvPr/>
        </p:nvSpPr>
        <p:spPr>
          <a:xfrm>
            <a:off x="10800000" y="3438000"/>
            <a:ext cx="3239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发明人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17"/>
          <p:cNvSpPr/>
          <p:nvPr/>
        </p:nvSpPr>
        <p:spPr>
          <a:xfrm>
            <a:off x="684000" y="4356000"/>
            <a:ext cx="15116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8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科研项目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Box 18"/>
          <p:cNvSpPr/>
          <p:nvPr/>
        </p:nvSpPr>
        <p:spPr>
          <a:xfrm>
            <a:off x="2304000" y="4356000"/>
            <a:ext cx="3743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项目编号、起止时间、承担单位原值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19"/>
          <p:cNvSpPr/>
          <p:nvPr/>
        </p:nvSpPr>
        <p:spPr>
          <a:xfrm>
            <a:off x="6264000" y="4356000"/>
            <a:ext cx="4319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项目编号，按作用域归一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20"/>
          <p:cNvSpPr/>
          <p:nvPr/>
        </p:nvSpPr>
        <p:spPr>
          <a:xfrm>
            <a:off x="10800000" y="4356000"/>
            <a:ext cx="3239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项目成员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21"/>
          <p:cNvSpPr/>
          <p:nvPr/>
        </p:nvSpPr>
        <p:spPr>
          <a:xfrm>
            <a:off x="684000" y="5274000"/>
            <a:ext cx="1511640" cy="27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8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获奖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22"/>
          <p:cNvSpPr/>
          <p:nvPr/>
        </p:nvSpPr>
        <p:spPr>
          <a:xfrm>
            <a:off x="2304000" y="5274000"/>
            <a:ext cx="3743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奖项名称、获奖年度、获奖团队名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23"/>
          <p:cNvSpPr/>
          <p:nvPr/>
        </p:nvSpPr>
        <p:spPr>
          <a:xfrm>
            <a:off x="6264000" y="5274000"/>
            <a:ext cx="4319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奖项名称＋年度＋获奖主体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24"/>
          <p:cNvSpPr/>
          <p:nvPr/>
        </p:nvSpPr>
        <p:spPr>
          <a:xfrm>
            <a:off x="10800000" y="5274000"/>
            <a:ext cx="3239640" cy="213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4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获奖成员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25"/>
          <p:cNvSpPr/>
          <p:nvPr/>
        </p:nvSpPr>
        <p:spPr>
          <a:xfrm>
            <a:off x="684000" y="6624000"/>
            <a:ext cx="13247640" cy="447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h-CN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共同身份（成果标识、标题、发生年份、公开生效状态、数据性质）由父类保存；专属字段与去重键在子类。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zh-CN" sz="13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参与关系统一由成果参与关系承载，不因子类拆分而复制；来源与版本关联父类，四类成果共用一套出处链。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Box 26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CognitaNexus  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27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07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03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数据采集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</a:t>
            </a:r>
            <a:r>
              <a:rPr 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CognitaNexus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数据采集入库流程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818640" y="1627200"/>
            <a:ext cx="617220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上：权限与许可校验、分批取回、逐条治理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7639200" y="1627200"/>
            <a:ext cx="617220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下：完成核对、成功与失败结论、停止与重试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Picture 7" descr="seq1-part1.png"/>
          <p:cNvPicPr/>
          <p:nvPr/>
        </p:nvPicPr>
        <p:blipFill>
          <a:blip r:embed="rId3"/>
          <a:stretch/>
        </p:blipFill>
        <p:spPr>
          <a:xfrm>
            <a:off x="818640" y="1836000"/>
            <a:ext cx="6172200" cy="5471640"/>
          </a:xfrm>
          <a:prstGeom prst="rect">
            <a:avLst/>
          </a:prstGeom>
          <a:ln w="0">
            <a:noFill/>
          </a:ln>
        </p:spPr>
      </p:pic>
      <p:pic>
        <p:nvPicPr>
          <p:cNvPr id="164" name="Picture 8" descr="seq1-part2.png"/>
          <p:cNvPicPr/>
          <p:nvPr/>
        </p:nvPicPr>
        <p:blipFill>
          <a:blip r:embed="rId4"/>
          <a:stretch/>
        </p:blipFill>
        <p:spPr>
          <a:xfrm>
            <a:off x="7639200" y="1836000"/>
            <a:ext cx="6717240" cy="4564800"/>
          </a:xfrm>
          <a:prstGeom prst="rect">
            <a:avLst/>
          </a:prstGeom>
          <a:ln w="0">
            <a:noFill/>
          </a:ln>
        </p:spPr>
      </p:pic>
      <p:sp>
        <p:nvSpPr>
          <p:cNvPr id="165" name="TextBox 9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CognitaNexus  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Box 10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08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5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228600"/>
            <a:ext cx="1003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03  /  </a:t>
            </a:r>
            <a:r>
              <a:rPr lang="zh-CN" altLang="en-US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数据采集入库 </a:t>
            </a:r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· OvO</a:t>
            </a:r>
            <a:endParaRPr lang="zh-CN" altLang="en-US" sz="1200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914400"/>
            <a:ext cx="1333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 </a:t>
            </a:r>
            <a:r>
              <a:rPr lang="zh-CN" altLang="en-US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采集时序：从许可检查到失败恢复</a:t>
            </a:r>
            <a:endParaRPr lang="zh-CN" altLang="en-US" sz="31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747000"/>
            <a:ext cx="1143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OvO  |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学术成果分享平台  </a:t>
            </a:r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需求分析汇报</a:t>
            </a:r>
            <a:endParaRPr lang="zh-CN" altLang="en-US" sz="1000">
              <a:solidFill>
                <a:srgbClr val="656E6A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8694" y="3059906"/>
            <a:ext cx="2919812" cy="321468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325100" y="2095500"/>
            <a:ext cx="3746500" cy="5143500"/>
          </a:xfrm>
          <a:prstGeom prst="rect">
            <a:avLst/>
          </a:prstGeom>
          <a:solidFill>
            <a:srgbClr val="FFFFFC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502900" y="2247900"/>
            <a:ext cx="3390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CognitaNexus </a:t>
            </a:r>
            <a:r>
              <a:rPr lang="zh-CN" altLang="en-US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对照</a:t>
            </a:r>
            <a:endParaRPr lang="zh-CN" altLang="en-US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02900" y="2743200"/>
            <a:ext cx="3390900" cy="253915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共同：来源许可先于采集；逐条核验；失败留痕；停止和重试有边界。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：突出任务状态、检查点、治理与人工核验入口。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CognitaNexus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：更细化批次、去重、结果归因与失败消息。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图源：仓库 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XMI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与本地预览；正式 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CodeArts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导出图待复核。</a:t>
            </a:r>
            <a:endParaRPr lang="zh-CN" altLang="en-US" sz="15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855700" y="77216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AE5E16"/>
                </a:solidFill>
                <a:latin typeface="Microsoft YaHei" panose="020B0503020204020204" pitchFamily="34" charset="-122"/>
              </a:rPr>
              <a:t>09</a:t>
            </a:r>
            <a:endParaRPr lang="zh-CN" altLang="en-US" sz="1200">
              <a:solidFill>
                <a:srgbClr val="AE5E16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04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认领审核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</a:t>
            </a:r>
            <a:r>
              <a:rPr 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CognitaNexus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门户认领审核流程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5"/>
          <p:cNvSpPr/>
          <p:nvPr/>
        </p:nvSpPr>
        <p:spPr>
          <a:xfrm>
            <a:off x="1898280" y="1627200"/>
            <a:ext cx="509256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上：提交与受理、证据齐备性判定、审核校验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7639200" y="1627200"/>
            <a:ext cx="509256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下：决定、授权与状态一致性、回读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4" name="Picture 7" descr="seq2-part1.png"/>
          <p:cNvPicPr/>
          <p:nvPr/>
        </p:nvPicPr>
        <p:blipFill>
          <a:blip r:embed="rId3"/>
          <a:stretch/>
        </p:blipFill>
        <p:spPr>
          <a:xfrm>
            <a:off x="317520" y="1836000"/>
            <a:ext cx="6673320" cy="5250600"/>
          </a:xfrm>
          <a:prstGeom prst="rect">
            <a:avLst/>
          </a:prstGeom>
          <a:ln w="0">
            <a:noFill/>
          </a:ln>
        </p:spPr>
      </p:pic>
      <p:pic>
        <p:nvPicPr>
          <p:cNvPr id="195" name="Picture 8" descr="seq2-part2.png"/>
          <p:cNvPicPr/>
          <p:nvPr/>
        </p:nvPicPr>
        <p:blipFill>
          <a:blip r:embed="rId4"/>
          <a:stretch/>
        </p:blipFill>
        <p:spPr>
          <a:xfrm>
            <a:off x="7639200" y="1836000"/>
            <a:ext cx="5619600" cy="6037920"/>
          </a:xfrm>
          <a:prstGeom prst="rect">
            <a:avLst/>
          </a:prstGeom>
          <a:ln w="0">
            <a:noFill/>
          </a:ln>
        </p:spPr>
      </p:pic>
      <p:sp>
        <p:nvSpPr>
          <p:cNvPr id="196" name="TextBox 9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CognitaNexus  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10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5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228600"/>
            <a:ext cx="1003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04  /  </a:t>
            </a:r>
            <a:r>
              <a:rPr lang="zh-CN" altLang="en-US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门户认领审核 </a:t>
            </a:r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· OvO</a:t>
            </a:r>
            <a:endParaRPr lang="zh-CN" altLang="en-US" sz="1200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914400"/>
            <a:ext cx="1333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 </a:t>
            </a:r>
            <a:r>
              <a:rPr lang="zh-CN" altLang="en-US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认领时序：提交、补证、审核与授权</a:t>
            </a:r>
            <a:endParaRPr lang="zh-CN" altLang="en-US" sz="31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747000"/>
            <a:ext cx="1143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OvO  |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学术成果分享平台  </a:t>
            </a:r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需求分析汇报</a:t>
            </a:r>
            <a:endParaRPr lang="zh-CN" altLang="en-US" sz="1000">
              <a:solidFill>
                <a:srgbClr val="656E6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09600" y="18415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A  </a:t>
            </a:r>
            <a:r>
              <a:rPr lang="zh-CN" altLang="en-US" sz="1600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申请受理与结果跟踪</a:t>
            </a:r>
            <a:endParaRPr lang="zh-CN" altLang="en-US" sz="1600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94600" y="1841500"/>
            <a:ext cx="6350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600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B  </a:t>
            </a:r>
            <a:r>
              <a:rPr lang="zh-CN" altLang="en-US" sz="1600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审核决定与补充循环</a:t>
            </a:r>
            <a:endParaRPr lang="zh-CN" altLang="en-US" sz="1600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722" y="3325480"/>
            <a:ext cx="1224755" cy="188344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9210" y="3325480"/>
            <a:ext cx="867780" cy="188344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" y="6540500"/>
            <a:ext cx="1320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共同约束：申请状态与对象级授权分离；补证不等于通过；冲突不覆盖既有授权。</a:t>
            </a:r>
            <a:endParaRPr lang="zh-CN" altLang="en-US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09600" y="7048500"/>
            <a:ext cx="13208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将提交跟踪与管理员审核拆成 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A/B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两图；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CognitaNexus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在单条端到端流程中集中呈现审核分支。</a:t>
            </a:r>
            <a:endParaRPr lang="zh-CN" altLang="en-US" sz="15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855700" y="77216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AE5E16"/>
                </a:solidFill>
                <a:latin typeface="Microsoft YaHei" panose="020B0503020204020204" pitchFamily="34" charset="-122"/>
              </a:rPr>
              <a:t>11</a:t>
            </a:r>
            <a:endParaRPr lang="zh-CN" altLang="en-US" sz="1200">
              <a:solidFill>
                <a:srgbClr val="AE5E16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05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检索请求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</a:t>
            </a:r>
            <a:r>
              <a:rPr 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CognitaNexus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检索请求处理流程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Box 5"/>
          <p:cNvSpPr/>
          <p:nvPr/>
        </p:nvSpPr>
        <p:spPr>
          <a:xfrm>
            <a:off x="1060560" y="1627200"/>
            <a:ext cx="593028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上：条件校验、范围选择、失败与空结果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Box 6"/>
          <p:cNvSpPr/>
          <p:nvPr/>
        </p:nvSpPr>
        <p:spPr>
          <a:xfrm>
            <a:off x="7639200" y="1627200"/>
            <a:ext cx="5930280" cy="16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1100" b="0" strike="noStrike" spc="-1">
                <a:solidFill>
                  <a:srgbClr val="646C65"/>
                </a:solidFill>
                <a:latin typeface="Noto Sans CJK SC"/>
                <a:ea typeface="Noto Sans CJK SC"/>
              </a:rPr>
              <a:t>下：结果返回、来源摘要与稳定分页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2" name="Picture 7" descr="seq3-part1.png"/>
          <p:cNvPicPr/>
          <p:nvPr/>
        </p:nvPicPr>
        <p:blipFill>
          <a:blip r:embed="rId3"/>
          <a:stretch/>
        </p:blipFill>
        <p:spPr>
          <a:xfrm>
            <a:off x="338040" y="1836000"/>
            <a:ext cx="6652800" cy="4564800"/>
          </a:xfrm>
          <a:prstGeom prst="rect">
            <a:avLst/>
          </a:prstGeom>
          <a:ln w="0">
            <a:noFill/>
          </a:ln>
        </p:spPr>
      </p:pic>
      <p:pic>
        <p:nvPicPr>
          <p:cNvPr id="223" name="Picture 8" descr="seq3-part2.png"/>
          <p:cNvPicPr/>
          <p:nvPr/>
        </p:nvPicPr>
        <p:blipFill>
          <a:blip r:embed="rId4"/>
          <a:stretch/>
        </p:blipFill>
        <p:spPr>
          <a:xfrm>
            <a:off x="7639200" y="1836000"/>
            <a:ext cx="5930280" cy="5471640"/>
          </a:xfrm>
          <a:prstGeom prst="rect">
            <a:avLst/>
          </a:prstGeom>
          <a:ln w="0">
            <a:noFill/>
          </a:ln>
        </p:spPr>
      </p:pic>
      <p:sp>
        <p:nvSpPr>
          <p:cNvPr id="224" name="TextBox 9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CognitaNexus  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Box 10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12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5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228600"/>
            <a:ext cx="1003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05  /  </a:t>
            </a:r>
            <a:r>
              <a:rPr lang="zh-CN" altLang="en-US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检索请求处理 </a:t>
            </a:r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· OvO</a:t>
            </a:r>
            <a:endParaRPr lang="zh-CN" altLang="en-US" sz="1200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914400"/>
            <a:ext cx="1333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 </a:t>
            </a:r>
            <a:r>
              <a:rPr lang="zh-CN" altLang="en-US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检索时序：条件校验与四类返回</a:t>
            </a:r>
            <a:endParaRPr lang="zh-CN" altLang="en-US" sz="31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747000"/>
            <a:ext cx="1143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OvO  |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学术成果分享平台  </a:t>
            </a:r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需求分析汇报</a:t>
            </a:r>
            <a:endParaRPr lang="zh-CN" altLang="en-US" sz="1000">
              <a:solidFill>
                <a:srgbClr val="656E6A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509" y="2966851"/>
            <a:ext cx="3426182" cy="3375398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0071100" y="2019300"/>
            <a:ext cx="4000500" cy="5270500"/>
          </a:xfrm>
          <a:prstGeom prst="rect">
            <a:avLst/>
          </a:prstGeom>
          <a:solidFill>
            <a:srgbClr val="FFFFFC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0248900" y="2171700"/>
            <a:ext cx="36449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与 </a:t>
            </a:r>
            <a:r>
              <a:rPr lang="en-US" altLang="zh-CN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CognitaNexus </a:t>
            </a:r>
            <a:r>
              <a:rPr lang="zh-CN" altLang="en-US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对照</a:t>
            </a:r>
            <a:endParaRPr lang="zh-CN" altLang="en-US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248900" y="2667000"/>
            <a:ext cx="3644900" cy="230832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共同：公开权限过滤先于返回；条件非法、依赖失败、无匹配、有匹配分别处理。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：将查询参数、范围校验和返回分支集中在一张图。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CognitaNexus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：细化来源摘要、上下文与稳定分页。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一致性判断：空结果不能伪装为系统失败。</a:t>
            </a:r>
            <a:endParaRPr lang="zh-CN" altLang="en-US" sz="15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855700" y="77216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AE5E16"/>
                </a:solidFill>
                <a:latin typeface="Microsoft YaHei" panose="020B0503020204020204" pitchFamily="34" charset="-122"/>
              </a:rPr>
              <a:t>13</a:t>
            </a:r>
            <a:endParaRPr lang="zh-CN" altLang="en-US" sz="1200">
              <a:solidFill>
                <a:srgbClr val="AE5E16"/>
              </a:solidFill>
              <a:latin typeface="Microsoft YaHei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5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228600"/>
            <a:ext cx="1003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06  /  </a:t>
            </a:r>
            <a:r>
              <a:rPr lang="zh-CN" altLang="en-US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双组建模对照 </a:t>
            </a:r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· </a:t>
            </a:r>
            <a:r>
              <a:rPr lang="zh-CN" altLang="en-US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联合</a:t>
            </a:r>
            <a:endParaRPr lang="zh-CN" altLang="en-US" sz="1200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914400"/>
            <a:ext cx="1333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同一需求的两组建模取舍</a:t>
            </a:r>
            <a:endParaRPr lang="zh-CN" altLang="en-US" sz="31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747000"/>
            <a:ext cx="1143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联合项目  </a:t>
            </a:r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|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学术成果分享平台  </a:t>
            </a:r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需求分析汇报</a:t>
            </a:r>
            <a:endParaRPr lang="zh-CN" altLang="en-US" sz="1000">
              <a:solidFill>
                <a:srgbClr val="656E6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9600" y="2159000"/>
            <a:ext cx="6350000" cy="4572000"/>
          </a:xfrm>
          <a:prstGeom prst="rect">
            <a:avLst/>
          </a:prstGeom>
          <a:solidFill>
            <a:srgbClr val="FFFFFC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7400" y="2311400"/>
            <a:ext cx="599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CognitaNexus</a:t>
            </a:r>
            <a:endParaRPr lang="zh-CN" altLang="en-US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7400" y="2806700"/>
            <a:ext cx="5994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侧重规则、状态和审计证据。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类图将主页、档案、申请、证据、授权和版本显式拆分。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时序图深入批次、补证、权限与稳定分页的条件分支。</a:t>
            </a:r>
            <a:endParaRPr lang="zh-CN" altLang="en-US" sz="15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70800" y="2159000"/>
            <a:ext cx="6350000" cy="4572000"/>
          </a:xfrm>
          <a:prstGeom prst="rect">
            <a:avLst/>
          </a:prstGeom>
          <a:solidFill>
            <a:srgbClr val="FFFFFC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48600" y="2311400"/>
            <a:ext cx="599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OvO</a:t>
            </a:r>
            <a:endParaRPr lang="zh-CN" altLang="en-US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48600" y="2806700"/>
            <a:ext cx="5994400" cy="115416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侧重参与者、业务对象和可观察结果。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类图覆盖四种成果类型、学者关系、采集与更新。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时序图按采集、认领、检索三条主流程组织，并显示失败出口。</a:t>
            </a:r>
            <a:endParaRPr lang="zh-CN" altLang="en-US" sz="15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60400" y="6997700"/>
            <a:ext cx="13208000" cy="2616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700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联合结论：保留两组相互补充的表达；统一名称、状态和权限含义，以 </a:t>
            </a:r>
            <a:r>
              <a:rPr lang="en-US" altLang="zh-CN" sz="1700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SRS</a:t>
            </a:r>
            <a:r>
              <a:rPr lang="zh-CN" altLang="en-US" sz="1700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／用例／活动图／状态图为判据。</a:t>
            </a:r>
            <a:endParaRPr lang="zh-CN" altLang="en-US" sz="1700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3855700" y="77216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AE5E16"/>
                </a:solidFill>
                <a:latin typeface="Microsoft YaHei" panose="020B0503020204020204" pitchFamily="34" charset="-122"/>
              </a:rPr>
              <a:t>14</a:t>
            </a:r>
            <a:endParaRPr lang="zh-CN" altLang="en-US" sz="1200">
              <a:solidFill>
                <a:srgbClr val="AE5E1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1257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5E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228600"/>
            <a:ext cx="10033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07  /  </a:t>
            </a:r>
            <a:r>
              <a:rPr lang="zh-CN" altLang="en-US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一致性与 </a:t>
            </a:r>
            <a:r>
              <a:rPr lang="en-US" altLang="zh-CN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AI · </a:t>
            </a:r>
            <a:r>
              <a:rPr lang="zh-CN" altLang="en-US" sz="1200" smtClean="0">
                <a:solidFill>
                  <a:srgbClr val="24644D"/>
                </a:solidFill>
                <a:latin typeface="Microsoft YaHei" panose="020B0503020204020204" pitchFamily="34" charset="-122"/>
              </a:rPr>
              <a:t>联合</a:t>
            </a:r>
            <a:endParaRPr lang="zh-CN" altLang="en-US" sz="1200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914400"/>
            <a:ext cx="13335000" cy="4770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模型追踪与 </a:t>
            </a:r>
            <a:r>
              <a:rPr lang="en-US" altLang="zh-CN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31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使用说明</a:t>
            </a:r>
            <a:endParaRPr lang="zh-CN" altLang="en-US" sz="31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7747000"/>
            <a:ext cx="1143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联合项目  </a:t>
            </a:r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|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学术成果分享平台  </a:t>
            </a:r>
            <a:r>
              <a:rPr lang="en-US" altLang="zh-CN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·  </a:t>
            </a:r>
            <a:r>
              <a:rPr lang="zh-CN" altLang="en-US" sz="1000" smtClean="0">
                <a:solidFill>
                  <a:srgbClr val="656E6A"/>
                </a:solidFill>
                <a:latin typeface="Microsoft YaHei" panose="020B0503020204020204" pitchFamily="34" charset="-122"/>
              </a:rPr>
              <a:t>需求分析汇报</a:t>
            </a:r>
            <a:endParaRPr lang="zh-CN" altLang="en-US" sz="1000">
              <a:solidFill>
                <a:srgbClr val="656E6A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09600" y="2082800"/>
            <a:ext cx="6350000" cy="4889500"/>
          </a:xfrm>
          <a:prstGeom prst="rect">
            <a:avLst/>
          </a:prstGeom>
          <a:solidFill>
            <a:srgbClr val="FFFFFC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87400" y="2235200"/>
            <a:ext cx="599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一致性检查</a:t>
            </a:r>
            <a:endParaRPr lang="zh-CN" altLang="en-US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87400" y="2730500"/>
            <a:ext cx="59944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对象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类：核心业务对象应落入类图，成果四子类继承一致。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规则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时序：采集许可、认领授权、检索公开过滤须出现在消息和分支中。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状态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流程：申请、任务、成果状态与 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SRS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／状态图同义。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图源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—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展示：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CodeArts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源文件、导出图与 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PPT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同版本。</a:t>
            </a:r>
            <a:endParaRPr lang="zh-CN" altLang="en-US" sz="15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670800" y="2082800"/>
            <a:ext cx="6350000" cy="4889500"/>
          </a:xfrm>
          <a:prstGeom prst="rect">
            <a:avLst/>
          </a:prstGeom>
          <a:solidFill>
            <a:srgbClr val="FFFFFC"/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848600" y="2235200"/>
            <a:ext cx="5994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AI</a:t>
            </a:r>
            <a:r>
              <a:rPr lang="zh-CN" altLang="en-US" b="1" smtClean="0">
                <a:solidFill>
                  <a:srgbClr val="24644D"/>
                </a:solidFill>
                <a:latin typeface="Microsoft YaHei" panose="020B0503020204020204" pitchFamily="34" charset="-122"/>
              </a:rPr>
              <a:t>：声明、理解、责任</a:t>
            </a:r>
            <a:endParaRPr lang="zh-CN" altLang="en-US" b="1">
              <a:solidFill>
                <a:srgbClr val="24644D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848600" y="2730500"/>
            <a:ext cx="5994400" cy="18466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CognitaNexus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：使用 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AI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辅助规则细化、文档组织和跨文件检查。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OvO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：使用 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ChatGPT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／</a:t>
            </a:r>
            <a:r>
              <a:rPr lang="en-US" altLang="zh-CN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Codex </a:t>
            </a:r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辅助对象清单、图源草拟和一致性排查。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人工验证：两组成员按需求、关系多重度、状态与异常出口逐项复核；最终取舍与提交责任由成员承担。</a:t>
            </a:r>
          </a:p>
          <a:p>
            <a:endParaRPr lang="zh-CN" altLang="en-US" sz="1500" smtClean="0">
              <a:solidFill>
                <a:srgbClr val="222A27"/>
              </a:solidFill>
              <a:latin typeface="Microsoft YaHei" panose="020B0503020204020204" pitchFamily="34" charset="-122"/>
            </a:endParaRPr>
          </a:p>
          <a:p>
            <a:r>
              <a:rPr lang="zh-CN" altLang="en-US" sz="1500" smtClean="0">
                <a:solidFill>
                  <a:srgbClr val="222A27"/>
                </a:solidFill>
                <a:latin typeface="Microsoft YaHei" panose="020B0503020204020204" pitchFamily="34" charset="-122"/>
              </a:rPr>
              <a:t>个人模型与效果记录以各组签认材料为准。</a:t>
            </a:r>
            <a:endParaRPr lang="zh-CN" altLang="en-US" sz="1500">
              <a:solidFill>
                <a:srgbClr val="222A27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3855700" y="77216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200" smtClean="0">
                <a:solidFill>
                  <a:srgbClr val="AE5E16"/>
                </a:solidFill>
                <a:latin typeface="Microsoft YaHei" panose="020B0503020204020204" pitchFamily="34" charset="-122"/>
              </a:rPr>
              <a:t>15</a:t>
            </a:r>
            <a:endParaRPr lang="zh-CN" altLang="en-US" sz="1200">
              <a:solidFill>
                <a:srgbClr val="AE5E16"/>
              </a:solidFill>
              <a:latin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0430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extBox 1"/>
          <p:cNvSpPr/>
          <p:nvPr/>
        </p:nvSpPr>
        <p:spPr>
          <a:xfrm>
            <a:off x="594000" y="273600"/>
            <a:ext cx="12779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08  / 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结论与后续 </a:t>
            </a:r>
            <a:r>
              <a:rPr lang="en-US" altLang="zh-CN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· </a:t>
            </a:r>
            <a:r>
              <a:rPr lang="zh-CN" altLang="en-US" sz="1200" b="1" strike="noStrike" spc="-1" smtClean="0">
                <a:solidFill>
                  <a:srgbClr val="356451"/>
                </a:solidFill>
                <a:latin typeface="Noto Sans CJK SC"/>
                <a:ea typeface="Noto Sans CJK SC"/>
              </a:rPr>
              <a:t>联合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2"/>
          <p:cNvSpPr/>
          <p:nvPr/>
        </p:nvSpPr>
        <p:spPr>
          <a:xfrm>
            <a:off x="594000" y="867600"/>
            <a:ext cx="13427640" cy="488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sz="3200" b="1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需求分析结论与后续设计</a:t>
            </a:r>
            <a:endParaRPr lang="en-US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5"/>
          <p:cNvSpPr/>
          <p:nvPr/>
        </p:nvSpPr>
        <p:spPr>
          <a:xfrm>
            <a:off x="684000" y="2016000"/>
            <a:ext cx="4391640" cy="35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已确定的模型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6"/>
          <p:cNvSpPr/>
          <p:nvPr/>
        </p:nvSpPr>
        <p:spPr>
          <a:xfrm>
            <a:off x="684000" y="2700000"/>
            <a:ext cx="4391640" cy="4924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en-US" altLang="zh-CN" sz="16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CognitaNexus</a:t>
            </a:r>
            <a:r>
              <a:rPr lang="zh-CN" altLang="en-US" sz="16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：</a:t>
            </a:r>
            <a:r>
              <a:rPr lang="en-US" altLang="zh-CN" sz="16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18 </a:t>
            </a:r>
            <a:r>
              <a:rPr lang="zh-CN" altLang="en-US" sz="16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类业务对象、约 </a:t>
            </a:r>
            <a:r>
              <a:rPr lang="en-US" altLang="zh-CN" sz="16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20 </a:t>
            </a:r>
            <a:r>
              <a:rPr lang="zh-CN" altLang="en-US" sz="16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条关系；</a:t>
            </a:r>
            <a:r>
              <a:rPr lang="en-US" altLang="zh-CN" sz="16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OvO</a:t>
            </a:r>
            <a:r>
              <a:rPr lang="zh-CN" altLang="en-US" sz="1600" b="0" strike="noStrike" spc="-1" smtClean="0">
                <a:solidFill>
                  <a:srgbClr val="252C29"/>
                </a:solidFill>
                <a:latin typeface="Noto Sans CJK SC"/>
                <a:ea typeface="Noto Sans CJK SC"/>
              </a:rPr>
              <a:t>：同域核心类图与三条时序图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7"/>
          <p:cNvSpPr/>
          <p:nvPr/>
        </p:nvSpPr>
        <p:spPr>
          <a:xfrm>
            <a:off x="7200000" y="2016000"/>
            <a:ext cx="4391640" cy="350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zh-CN" sz="2300" b="1" strike="noStrike" spc="-1">
                <a:solidFill>
                  <a:srgbClr val="356451"/>
                </a:solidFill>
                <a:latin typeface="Noto Sans CJK SC"/>
                <a:ea typeface="Noto Sans CJK SC"/>
              </a:rPr>
              <a:t>对后续设计的约束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8"/>
          <p:cNvSpPr/>
          <p:nvPr/>
        </p:nvSpPr>
        <p:spPr>
          <a:xfrm>
            <a:off x="7200000" y="2700000"/>
            <a:ext cx="4391640" cy="193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学者与成果多对多，由关联实体承载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来源记录对成果归属可空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更新记录独立留存，不级联删除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认领证据按可见范围控制访问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400"/>
              </a:spcAft>
            </a:pPr>
            <a:r>
              <a:rPr lang="zh-CN" sz="1600" b="0" strike="noStrike" spc="-1">
                <a:solidFill>
                  <a:srgbClr val="252C29"/>
                </a:solidFill>
                <a:latin typeface="Noto Sans CJK SC"/>
                <a:ea typeface="Noto Sans CJK SC"/>
              </a:rPr>
              <a:t>检索区分四类结果与稳定分页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2"/>
          <p:cNvSpPr/>
          <p:nvPr/>
        </p:nvSpPr>
        <p:spPr>
          <a:xfrm>
            <a:off x="594000" y="7754400"/>
            <a:ext cx="10799640" cy="15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联合项目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|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学术成果分享平台  </a:t>
            </a:r>
            <a:r>
              <a:rPr lang="en-US" altLang="zh-CN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·  </a:t>
            </a:r>
            <a:r>
              <a:rPr lang="zh-CN" altLang="en-US" sz="1000" b="0" strike="noStrike" spc="-1" smtClean="0">
                <a:solidFill>
                  <a:srgbClr val="646C65"/>
                </a:solidFill>
                <a:latin typeface="Noto Sans CJK SC"/>
                <a:ea typeface="Noto Sans CJK SC"/>
              </a:rPr>
              <a:t>需求分析汇报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Box 13"/>
          <p:cNvSpPr/>
          <p:nvPr/>
        </p:nvSpPr>
        <p:spPr>
          <a:xfrm>
            <a:off x="13176000" y="7725600"/>
            <a:ext cx="935640" cy="183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r" defTabSz="457200">
              <a:lnSpc>
                <a:spcPct val="100000"/>
              </a:lnSpc>
              <a:spcAft>
                <a:spcPts val="601"/>
              </a:spcAft>
            </a:pPr>
            <a:r>
              <a:rPr lang="en-US" sz="1200" b="1" strike="noStrike" spc="-1" smtClean="0">
                <a:solidFill>
                  <a:srgbClr val="B37B3E"/>
                </a:solidFill>
                <a:latin typeface="Noto Sans CJK SC"/>
                <a:ea typeface="Noto Sans CJK SC"/>
              </a:rPr>
              <a:t>16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p15="http://schemas.microsoft.com/office/powerpoint/2012/main" xmlns="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3012</Words>
  <Application>Microsoft Office PowerPoint</Application>
  <PresentationFormat>自定义</PresentationFormat>
  <Paragraphs>226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DejaVu Sans</vt:lpstr>
      <vt:lpstr>Noto Sans CJK SC</vt:lpstr>
      <vt:lpstr>Microsoft YaHei</vt:lpstr>
      <vt:lpstr>Arial</vt:lpstr>
      <vt:lpstr>Calibri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dc:description>generated using python-pptx</dc:description>
  <cp:lastModifiedBy>songx</cp:lastModifiedBy>
  <cp:revision>5</cp:revision>
  <dcterms:created xsi:type="dcterms:W3CDTF">2013-01-27T09:14:16Z</dcterms:created>
  <dcterms:modified xsi:type="dcterms:W3CDTF">2026-10-27T13:26:32Z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自定义</vt:lpwstr>
  </property>
  <property fmtid="{D5CDD505-2E9C-101B-9397-08002B2CF9AE}" pid="4" name="Slides">
    <vt:i4>10</vt:i4>
  </property>
</Properties>
</file>